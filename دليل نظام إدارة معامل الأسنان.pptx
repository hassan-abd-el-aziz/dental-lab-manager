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4"/>
    <p:sldId id="258" r:id="rId5"/>
    <p:sldId id="269" r:id="rId6"/>
    <p:sldId id="270" r:id="rId7"/>
    <p:sldId id="264" r:id="rId8"/>
    <p:sldId id="271" r:id="rId9"/>
    <p:sldId id="272" r:id="rId10"/>
    <p:sldId id="273" r:id="rId11"/>
    <p:sldId id="274" r:id="rId12"/>
    <p:sldId id="275" r:id="rId13"/>
    <p:sldId id="276" r:id="rId14"/>
    <p:sldId id="277" r:id="rId15"/>
    <p:sldId id="278" r:id="rId16"/>
    <p:sldId id="279" r:id="rId17"/>
    <p:sldId id="260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597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png"/><Relationship Id="rId7" Type="http://schemas.openxmlformats.org/officeDocument/2006/relationships/image" Target="../media/image2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771" y="2166044"/>
            <a:ext cx="2892879" cy="3714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2728019"/>
            <a:ext cx="1160145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400"/>
              </a:lnSpc>
            </a:pPr>
            <a:r>
              <a:rPr sz="4500" b="1" i="0" u="none">
                <a:solidFill>
                  <a:srgbClr val="0F172A"/>
                </a:solidFill>
                <a:latin typeface="Cairo"/>
              </a:rPr>
              <a:t>دليل واجهات وقوائم نظام إدارة معامل الأسنان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76462" y="4242494"/>
            <a:ext cx="783907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640"/>
              </a:lnSpc>
            </a:pP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شرح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تفصيلي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شامل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لكافة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المكونات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،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القوائم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التشغيلية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،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الأدوات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التفاعلية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،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وآليات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الأمان</a:t>
            </a:r>
            <a:r>
              <a:rPr sz="1650" b="0" i="0" u="none" dirty="0">
                <a:solidFill>
                  <a:srgbClr val="64748B"/>
                </a:solidFill>
                <a:latin typeface="Tajawal"/>
              </a:rPr>
              <a:t> </a:t>
            </a:r>
            <a:r>
              <a:rPr sz="1650" b="0" i="0" u="none" dirty="0" err="1">
                <a:solidFill>
                  <a:srgbClr val="64748B"/>
                </a:solidFill>
                <a:latin typeface="Tajawal"/>
              </a:rPr>
              <a:t>المدمجة</a:t>
            </a:r>
            <a:endParaRPr sz="1650" b="0" i="0" u="none" dirty="0">
              <a:solidFill>
                <a:srgbClr val="64748B"/>
              </a:solidFill>
              <a:latin typeface="Tajawal"/>
            </a:endParaRP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6150" y="2264016"/>
            <a:ext cx="152400" cy="171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560314"/>
            <a:ext cx="5334000" cy="246876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560314"/>
            <a:ext cx="5334000" cy="2468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1775" y="1884164"/>
            <a:ext cx="4980622" cy="276999"/>
          </a:xfrm>
          <a:prstGeom prst="rect">
            <a:avLst/>
          </a:prstGeom>
          <a:noFill/>
        </p:spPr>
        <p:txBody>
          <a:bodyPr wrap="square" lIns="228600" tIns="0" rIns="0" bIns="0" anchor="t">
            <a:spAutoFit/>
          </a:bodyPr>
          <a:lstStyle/>
          <a:p>
            <a:pPr lvl="2" algn="r" rtl="1"/>
            <a:r>
              <a:rPr b="1" i="0" u="none" dirty="0" err="1">
                <a:solidFill>
                  <a:srgbClr val="0369A1"/>
                </a:solidFill>
                <a:latin typeface="Cairo"/>
              </a:rPr>
              <a:t>التصميم</a:t>
            </a:r>
            <a:r>
              <a:rPr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b="1" i="0" u="none" dirty="0" err="1">
                <a:solidFill>
                  <a:srgbClr val="0369A1"/>
                </a:solidFill>
                <a:latin typeface="Cairo"/>
              </a:rPr>
              <a:t>البصري</a:t>
            </a:r>
            <a:r>
              <a:rPr b="1" i="0" u="none" dirty="0">
                <a:solidFill>
                  <a:srgbClr val="0369A1"/>
                </a:solidFill>
                <a:latin typeface="Cairo"/>
              </a:rPr>
              <a:t> (Sidebar UI)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00775" y="2408039"/>
            <a:ext cx="5229225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0975" indent="-180975" algn="r" rtl="1">
              <a:lnSpc>
                <a:spcPts val="2160"/>
              </a:lnSpc>
              <a:buFont typeface="Arial" panose="020B0604020202020204" pitchFamily="34" charset="0"/>
              <a:buChar char="•"/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تستقر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القائمة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الجانبية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الجهة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اليمنى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الشاشة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بتصميم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داكن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فاخر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(Dark Navy Blue) 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يمنح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تباينًا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ممتازا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منطقة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الرئيسية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1775" y="3070920"/>
            <a:ext cx="47434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88900" indent="-88900" algn="r" rtl="1">
              <a:lnSpc>
                <a:spcPts val="2160"/>
              </a:lnSpc>
              <a:buFont typeface="Arial" panose="020B0604020202020204" pitchFamily="34" charset="0"/>
              <a:buChar char="•"/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تضمن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التجربة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الفائقة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سهولة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الوصول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المباشر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للوحدات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وتخفيف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إجهاد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أثناء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اليومي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المستمر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داخل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5966" y="1901012"/>
            <a:ext cx="3520614" cy="276999"/>
          </a:xfrm>
          <a:prstGeom prst="rect">
            <a:avLst/>
          </a:prstGeom>
          <a:noFill/>
        </p:spPr>
        <p:txBody>
          <a:bodyPr wrap="square" lIns="285750" tIns="0" rIns="0" bIns="0" anchor="t">
            <a:spAutoFit/>
          </a:bodyPr>
          <a:lstStyle/>
          <a:p>
            <a:pPr algn="r" rtl="1"/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التكامل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والقدرات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التشغيلية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775" y="2408039"/>
            <a:ext cx="47434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0975" indent="-180975" algn="r" rtl="1">
              <a:lnSpc>
                <a:spcPts val="2160"/>
              </a:lnSpc>
              <a:buFont typeface="Arial" panose="020B0604020202020204" pitchFamily="34" charset="0"/>
              <a:buChar char="•"/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ربط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شامل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دورة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(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التصنيع</a:t>
            </a:r>
            <a:r>
              <a:rPr lang="en-GB" sz="1350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والتسليم</a:t>
            </a:r>
            <a:r>
              <a:rPr lang="ar-EG" sz="1350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والدورة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(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الفواتير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والتحصيل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)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إدارة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الأطباء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والمخزون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).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6775" y="3070920"/>
            <a:ext cx="4743450" cy="5485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80975" indent="-180975" algn="r" rtl="1">
              <a:lnSpc>
                <a:spcPts val="2160"/>
              </a:lnSpc>
              <a:buFont typeface="Arial" panose="020B0604020202020204" pitchFamily="34" charset="0"/>
              <a:buChar char="•"/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توفير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أدوات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أمان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متكاملة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كالقفل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الفوري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والنسخ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الاحتياطي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وسجلات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التتبع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والتدقيق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الشاملة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للعمليات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26169" y="1908363"/>
            <a:ext cx="228600" cy="2286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1046" y="1908363"/>
            <a:ext cx="28575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0" y="714789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النظرة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العامة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والتصميم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الهيكلي</a:t>
            </a:r>
            <a:endParaRPr sz="2700" b="0" i="0" u="none" dirty="0">
              <a:solidFill>
                <a:srgbClr val="0F172A"/>
              </a:solidFill>
              <a:latin typeface="Cairo ExtraBold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1546682" y="714789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14" y="4341614"/>
            <a:ext cx="10722429" cy="21462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3157" y="4996641"/>
            <a:ext cx="10668000" cy="250966"/>
          </a:xfrm>
          <a:prstGeom prst="rect">
            <a:avLst/>
          </a:prstGeom>
          <a:noFill/>
        </p:spPr>
        <p:txBody>
          <a:bodyPr wrap="square" lIns="161925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إدارة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الفواتير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والمدفوعات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إصدار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ومتابعة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الفواتير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الصادرة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للعملاء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تسجيل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المقبوضات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والدفعات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النقدية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والمصرفية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إمكانية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الطباعة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والحذف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57" y="5461431"/>
            <a:ext cx="10668000" cy="250966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مراقبة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المخزون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الفعلي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متابعة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ديسكات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الزيركون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المستلزمات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الطبية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إمكانية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السحب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السريع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الجرد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والتنبيه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عند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نقص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المواد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3157" y="5926222"/>
            <a:ext cx="10668000" cy="250966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المصروفات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والنفقات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التشغيلية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تسجيل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نفقات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والمشتريات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وتصنيفها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لعرض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إجمالي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المصروفات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بدقة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57" y="6391012"/>
            <a:ext cx="10668000" cy="250966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التقارير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الشاملة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استخراج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التقارير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والتشغيلية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المخصصة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حسب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التاريخ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(ا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ليوم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هذا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الشهر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خيار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تخصيص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الفترة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).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57845" y="5078109"/>
            <a:ext cx="161925" cy="219075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05457" y="5494769"/>
            <a:ext cx="266700" cy="219075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19745" y="5959559"/>
            <a:ext cx="238125" cy="219075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19745" y="6424349"/>
            <a:ext cx="238125" cy="219075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11224532" y="4559386"/>
            <a:ext cx="47625" cy="352163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98365" y="4530443"/>
            <a:ext cx="2454729" cy="276999"/>
          </a:xfrm>
          <a:prstGeom prst="rect">
            <a:avLst/>
          </a:prstGeom>
          <a:noFill/>
        </p:spPr>
        <p:txBody>
          <a:bodyPr wrap="square" lIns="228600" tIns="0" rIns="0" bIns="0" anchor="t">
            <a:spAutoFit/>
          </a:bodyPr>
          <a:lstStyle/>
          <a:p>
            <a:pPr marL="0" lvl="2" algn="r" rtl="1"/>
            <a:r>
              <a:rPr lang="ar-EG" b="1" i="0" u="none" dirty="0" smtClean="0">
                <a:solidFill>
                  <a:srgbClr val="0369A1"/>
                </a:solidFill>
                <a:latin typeface="Cairo"/>
              </a:rPr>
              <a:t>الإدارة المالية والمخزون</a:t>
            </a:r>
            <a:endParaRPr b="1" i="0" u="none" dirty="0">
              <a:solidFill>
                <a:srgbClr val="0369A1"/>
              </a:solidFill>
              <a:latin typeface="Cair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22181" y="476250"/>
            <a:ext cx="5550693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شاشة تسجيل الدخول</a:t>
            </a:r>
          </a:p>
        </p:txBody>
      </p:sp>
      <p:sp>
        <p:nvSpPr>
          <p:cNvPr id="4" name="Rectangle 3"/>
          <p:cNvSpPr/>
          <p:nvPr/>
        </p:nvSpPr>
        <p:spPr>
          <a:xfrm>
            <a:off x="1166812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67413" y="1559854"/>
            <a:ext cx="5700712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تصميم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جذاب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وأمان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عالي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679932" y="2272757"/>
            <a:ext cx="5035817" cy="5642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تتضمن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حقول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أدخال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المستخدم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وكلمة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المرور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بالإضافة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معلومات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التواصل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المباشرة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الدعم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الفني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لتقديم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المساعدة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السريعة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764" y="843643"/>
            <a:ext cx="5522965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2425911"/>
            <a:ext cx="3390900" cy="22741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62097" y="3292686"/>
            <a:ext cx="2220277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 u="none">
                <a:solidFill>
                  <a:srgbClr val="0369A1"/>
                </a:solidFill>
                <a:latin typeface="Cairo"/>
              </a:rPr>
              <a:t>لوحة التحكم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06697" y="3732568"/>
            <a:ext cx="3236705" cy="5642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عرض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المؤشرات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إجمالي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الطلبات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،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 إجمالي الفواتير،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الرسوم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البيانية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، حسب اليوم الحالي او ماتم إختياره.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9475" y="2692611"/>
            <a:ext cx="342900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3" y="1331567"/>
            <a:ext cx="7955245" cy="42848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0713" y="1796018"/>
            <a:ext cx="3066911" cy="23988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19221" y="2662793"/>
            <a:ext cx="2220277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دليل</a:t>
            </a:r>
            <a:r>
              <a:rPr sz="1800" b="1" i="0" u="none" dirty="0" smtClean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الأطباء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76974" y="3186668"/>
            <a:ext cx="2762524" cy="846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إضافة اللأطباء و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إدارة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سجلات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الأطباء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المتعاملين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تعديل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الحسابات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والربط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المالي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لل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دفوعات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، وكشف حساب كامل لكل طبيب.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4699" y="2062718"/>
            <a:ext cx="304800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974" y="4116382"/>
            <a:ext cx="7907890" cy="24126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2" name="Picture 21"/>
          <p:cNvPicPr>
            <a:picLocks noChangeAspect="1"/>
          </p:cNvPicPr>
          <p:nvPr/>
        </p:nvPicPr>
        <p:blipFill rotWithShape="1">
          <a:blip r:embed="rId6"/>
          <a:srcRect l="1275" t="2653" b="1414"/>
          <a:stretch/>
        </p:blipFill>
        <p:spPr>
          <a:xfrm>
            <a:off x="1347304" y="247374"/>
            <a:ext cx="3419062" cy="341464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5706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8972" y="405801"/>
            <a:ext cx="2590800" cy="5754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3926" y="552581"/>
            <a:ext cx="2220277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طلب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جديد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1122" y="538382"/>
            <a:ext cx="390525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القائمة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الجانبية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: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الوحدات</a:t>
            </a:r>
            <a:r>
              <a:rPr sz="2700" b="0" i="0" u="none" dirty="0">
                <a:solidFill>
                  <a:srgbClr val="0F172A"/>
                </a:solidFill>
                <a:latin typeface="Cairo ExtraBold"/>
              </a:rPr>
              <a:t> </a:t>
            </a:r>
            <a:r>
              <a:rPr sz="2700" b="0" i="0" u="none" dirty="0" err="1">
                <a:solidFill>
                  <a:srgbClr val="0F172A"/>
                </a:solidFill>
                <a:latin typeface="Cairo ExtraBold"/>
              </a:rPr>
              <a:t>التشغيلية</a:t>
            </a:r>
            <a:endParaRPr sz="2700" b="0" i="0" u="none" dirty="0">
              <a:solidFill>
                <a:srgbClr val="0F172A"/>
              </a:solidFill>
              <a:latin typeface="Cairo ExtraBold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4105" y="1044450"/>
            <a:ext cx="9860207" cy="57264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48291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0" y="2447032"/>
            <a:ext cx="2590800" cy="284023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447032"/>
            <a:ext cx="2590800" cy="284023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900" y="2447032"/>
            <a:ext cx="2590800" cy="284023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447032"/>
            <a:ext cx="2590800" cy="28402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62097" y="3313807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بيانات</a:t>
            </a:r>
            <a:r>
              <a:rPr sz="1800" b="1" i="0" u="none" dirty="0" smtClean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الطلب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267825" y="3837682"/>
            <a:ext cx="2114550" cy="815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اختيار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اسم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الطبيب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قائمة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منسدلة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وتحديد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تاريخ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الطلب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الحالة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التشغيلية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والتشخيص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الطبي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42697" y="3313807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تحديد</a:t>
            </a:r>
            <a:r>
              <a:rPr sz="1800" b="1" i="0" u="none" dirty="0" smtClean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الأسنان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48425" y="3837682"/>
            <a:ext cx="21145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مصفوفة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تفاعلية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لاختيار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الأسنان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العلوية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والسفلية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(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صفوف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1 و 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2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)</a:t>
            </a:r>
            <a:r>
              <a:rPr sz="1350" b="0" i="0" u="none" dirty="0" smtClean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بدقة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3297" y="3313807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/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الأصناف</a:t>
            </a:r>
            <a:r>
              <a:rPr sz="1800" b="1" i="0" u="none" dirty="0" smtClean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والخدمات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29025" y="3837682"/>
            <a:ext cx="21145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sz="1350" b="0" i="0" u="none">
                <a:solidFill>
                  <a:srgbClr val="334155"/>
                </a:solidFill>
                <a:latin typeface="Tajawal"/>
              </a:rPr>
              <a:t>جدول شامل لإضافة الصنف، تحديد السعر والكمية والخصم وتحسيب الإجمالي تلقائياً.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897" y="3313807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800" b="1" i="0" u="none" dirty="0" err="1" smtClean="0">
                <a:solidFill>
                  <a:srgbClr val="0369A1"/>
                </a:solidFill>
                <a:latin typeface="Cairo"/>
              </a:rPr>
              <a:t>ملخص</a:t>
            </a:r>
            <a:r>
              <a:rPr sz="1800" b="1" i="0" u="none" dirty="0" smtClean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الحساب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9625" y="3837682"/>
            <a:ext cx="2114550" cy="8228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حساب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الإجمالي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الكلي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صافي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الخصم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المبلغ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المدفوع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والباقي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المتبقي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على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الطبيب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750" y="2713732"/>
            <a:ext cx="428625" cy="3429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2450" y="2713732"/>
            <a:ext cx="390525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675" y="2713732"/>
            <a:ext cx="342900" cy="3429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7000" y="2713732"/>
            <a:ext cx="257175" cy="3429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آلية إضافة طلب عمل جديد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678" y="1505050"/>
            <a:ext cx="3623316" cy="2292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3520" y="1837336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متابعة الفواتير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39270" y="2414961"/>
            <a:ext cx="3402859" cy="112851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متابعة كل الفواتير، امكانية البحث عن الفواتير، والفواتير الخاصة بكل طبيب، حسب حالات الفواتير(مدفوعة جزئياً، مدفوعة ، غير مدفوعه) والبحث بتاريخ الفاتورة وامكانية عرض الفاتورة وطباعتها.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2282" y="4036879"/>
            <a:ext cx="9467560" cy="237427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695093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678" y="1505050"/>
            <a:ext cx="3623316" cy="2292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41921" y="1837336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متابعة طلبات العملاء 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39270" y="2414961"/>
            <a:ext cx="3402859" cy="8463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متابعة كافة الطلبات بالمعمل حسب حالتها (الكل ، الحالات في المعمل، وما تم تسليمه، وفي الانتظار، والملغي) مع امكانية تحديث حالة التسليم)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25" y="4037497"/>
            <a:ext cx="11612263" cy="2518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080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0678" y="1505050"/>
            <a:ext cx="3623316" cy="2292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41921" y="1837336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متابعة الخامات بالمخزن 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39270" y="2414961"/>
            <a:ext cx="3402859" cy="815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متابعة الخامات المستخدمه داخل المخزن مع إمكانية اضافة الأصناف، والسحب من المخزن وتعديل الكميات وعمل الجرد السريع للمخزون من الخامات و امكانية البحث بإسم الصنف.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6295" y="4049021"/>
            <a:ext cx="11399410" cy="24417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927392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821" y="1563608"/>
            <a:ext cx="3362059" cy="2292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844808" y="1895894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متابعة مدفوعات العملاء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03468" y="2473519"/>
            <a:ext cx="3041548" cy="5642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متابعة مدفوعات العملاء، وإضافة دفعات جديدة بما تؤثر على كشف حساب الطبيب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782" y="1057322"/>
            <a:ext cx="8038783" cy="545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09230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4821" y="1563608"/>
            <a:ext cx="3362059" cy="229297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844808" y="1895894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متابعة المصروفات 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03468" y="2473519"/>
            <a:ext cx="3041548" cy="5642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متابعة المصروفات حسب نوعها (ايجار، رواتب، خامات ......).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546" y="1554481"/>
            <a:ext cx="8255765" cy="4122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066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157" y="1247919"/>
            <a:ext cx="5541267" cy="17418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792" y="3114917"/>
            <a:ext cx="11375628" cy="3617897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8958941" y="1532335"/>
            <a:ext cx="1908995" cy="276999"/>
          </a:xfrm>
          <a:prstGeom prst="rect">
            <a:avLst/>
          </a:prstGeom>
          <a:noFill/>
        </p:spPr>
        <p:txBody>
          <a:bodyPr wrap="square" lIns="228600" tIns="0" rIns="0" bIns="0" anchor="t">
            <a:spAutoFit/>
          </a:bodyPr>
          <a:lstStyle/>
          <a:p>
            <a:pPr algn="r" rtl="1"/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فلترة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التقارير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المتقدمة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2067" y="1569535"/>
            <a:ext cx="228600" cy="2286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75815" y="1945851"/>
            <a:ext cx="5166252" cy="5330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تتميز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شاشات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التقرير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بشريط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فلترة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علوي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مرن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يمكنك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تحديد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فترة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زمنية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تاريخين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محددين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lang="ar-EG" sz="1350" b="0" i="0" u="none" dirty="0" smtClean="0">
                <a:solidFill>
                  <a:srgbClr val="334155"/>
                </a:solidFill>
                <a:latin typeface="Tajawal"/>
              </a:rPr>
              <a:t>(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اليوم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الشهر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،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فترة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 smtClean="0">
                <a:solidFill>
                  <a:srgbClr val="334155"/>
                </a:solidFill>
                <a:latin typeface="Tajawal"/>
              </a:rPr>
              <a:t>مخصصة</a:t>
            </a:r>
            <a:r>
              <a:rPr lang="ar-EG" sz="1350" dirty="0">
                <a:solidFill>
                  <a:srgbClr val="334155"/>
                </a:solidFill>
                <a:latin typeface="Tajawal"/>
              </a:rPr>
              <a:t>)، حصر كامل لجميع الإيرادات والمصروفات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.</a:t>
            </a:r>
            <a:endParaRPr lang="ar-EG" sz="1350" dirty="0">
              <a:solidFill>
                <a:srgbClr val="334155"/>
              </a:solidFill>
              <a:latin typeface="Tajawal"/>
            </a:endParaRPr>
          </a:p>
        </p:txBody>
      </p:sp>
    </p:spTree>
    <p:extLst>
      <p:ext uri="{BB962C8B-B14F-4D97-AF65-F5344CB8AC3E}">
        <p14:creationId xmlns:p14="http://schemas.microsoft.com/office/powerpoint/2010/main" val="425007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366" y="1381127"/>
            <a:ext cx="3334406" cy="16233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0636" y="1766579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إدارة المستخدمين 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21612" y="2154038"/>
            <a:ext cx="3041548" cy="250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إدارة المستخدمين وصلاحيتهم (مدير ، موظف )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69" y="1683936"/>
            <a:ext cx="8269117" cy="4242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518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366" y="1381127"/>
            <a:ext cx="3334406" cy="203698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74011" y="2154038"/>
            <a:ext cx="3041548" cy="1097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متابعة </a:t>
            </a:r>
            <a:r>
              <a:rPr lang="ar-EG" sz="1350" dirty="0">
                <a:solidFill>
                  <a:srgbClr val="334155"/>
                </a:solidFill>
                <a:latin typeface="Tajawal"/>
              </a:rPr>
              <a:t>كافة الحركات التعديلية والعمليات التي يجريها فريق العمل 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والموظفون و </a:t>
            </a:r>
            <a:r>
              <a:rPr lang="ar-EG" sz="1350" dirty="0">
                <a:solidFill>
                  <a:srgbClr val="334155"/>
                </a:solidFill>
                <a:latin typeface="Tajawal"/>
              </a:rPr>
              <a:t>استعراض الأخطاء والعمليات المنجزة والتعديلات لضمان أقصى درجات الشفافية 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مع امكانية البحث حسب الاجراء و حسب المدة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1087" y="605080"/>
            <a:ext cx="7337690" cy="58209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8434524" y="1665529"/>
            <a:ext cx="3041548" cy="276999"/>
          </a:xfrm>
          <a:prstGeom prst="rect">
            <a:avLst/>
          </a:prstGeom>
          <a:noFill/>
        </p:spPr>
        <p:txBody>
          <a:bodyPr wrap="square" lIns="228600" tIns="0" rIns="0" bIns="0" anchor="t">
            <a:spAutoFit/>
          </a:bodyPr>
          <a:lstStyle/>
          <a:p>
            <a:pPr algn="r" rtl="1"/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سجل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التتبع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</a:t>
            </a:r>
            <a:r>
              <a:rPr sz="1800" b="1" i="0" u="none" dirty="0" err="1">
                <a:solidFill>
                  <a:srgbClr val="0369A1"/>
                </a:solidFill>
                <a:latin typeface="Cairo"/>
              </a:rPr>
              <a:t>والتدقيق</a:t>
            </a:r>
            <a:r>
              <a:rPr sz="1800" b="1" i="0" u="none" dirty="0">
                <a:solidFill>
                  <a:srgbClr val="0369A1"/>
                </a:solidFill>
                <a:latin typeface="Cairo"/>
              </a:rPr>
              <a:t> (Audit Log)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9362" y="1713928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12151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93" y="0"/>
            <a:ext cx="12192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366" y="1381127"/>
            <a:ext cx="3334406" cy="36970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0636" y="1766579"/>
            <a:ext cx="222027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ar-EG" b="1" dirty="0" smtClean="0">
                <a:solidFill>
                  <a:srgbClr val="0369A1"/>
                </a:solidFill>
                <a:latin typeface="Cairo"/>
              </a:rPr>
              <a:t>الإعدادات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21612" y="2154038"/>
            <a:ext cx="3041548" cy="8152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إعدادات بيانات المعمل، واضافة الأصناف المستخدمه عند إضافة طلب جديد بحيث عند اختيار الصنف يتم ظهور السعر تلقائياً.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القائمة الجانبية: الوحدات التشغيلية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363" y="409912"/>
            <a:ext cx="6611156" cy="491186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528" y="5408863"/>
            <a:ext cx="2173308" cy="134778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TextBox 12"/>
          <p:cNvSpPr txBox="1"/>
          <p:nvPr/>
        </p:nvSpPr>
        <p:spPr>
          <a:xfrm>
            <a:off x="8670636" y="3389908"/>
            <a:ext cx="3041548" cy="14106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إمكانية إنشاء نسخة إحتياطية، وإمكانية إستعادتها.</a:t>
            </a:r>
            <a:br>
              <a:rPr lang="ar-EG" sz="1350" dirty="0" smtClean="0">
                <a:solidFill>
                  <a:srgbClr val="334155"/>
                </a:solidFill>
                <a:latin typeface="Tajawal"/>
              </a:rPr>
            </a:br>
            <a:r>
              <a:rPr lang="ar-EG" sz="1350" b="1" dirty="0" smtClean="0">
                <a:solidFill>
                  <a:srgbClr val="FF0000"/>
                </a:solidFill>
                <a:latin typeface="Tajawal"/>
              </a:rPr>
              <a:t>وتصفير جميع التعاملات </a:t>
            </a:r>
            <a:r>
              <a:rPr lang="ar-EG" sz="1350" dirty="0" smtClean="0">
                <a:solidFill>
                  <a:srgbClr val="334155"/>
                </a:solidFill>
                <a:latin typeface="Tajawal"/>
              </a:rPr>
              <a:t>(يتم حذف كافة التعاملات داخل البرنامج من فواتير وغيرها ولا يبقى غير بيانات المخزن والاصناف والاطباء) ويتم حذف باقي التعاملات في البرنامج</a:t>
            </a:r>
            <a:endParaRPr sz="1350" b="0" i="0" u="none" dirty="0">
              <a:solidFill>
                <a:srgbClr val="334155"/>
              </a:solidFill>
              <a:latin typeface="Tajawal"/>
            </a:endParaRPr>
          </a:p>
        </p:txBody>
      </p:sp>
    </p:spTree>
    <p:extLst>
      <p:ext uri="{BB962C8B-B14F-4D97-AF65-F5344CB8AC3E}">
        <p14:creationId xmlns:p14="http://schemas.microsoft.com/office/powerpoint/2010/main" val="1834288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86500" y="2427089"/>
            <a:ext cx="5334000" cy="2509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تضم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الأسفل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الجانبي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للقائمة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أدوات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أمان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واستخدام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مهمة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لحماية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بيانات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واستمرارية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العمل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0" y="3089969"/>
            <a:ext cx="4953000" cy="548580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قفل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الشاشة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المؤقت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يُمكّن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الموظف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قفل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الشاشة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عند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مغادرة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المكتب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دون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الحاجة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لتسجيل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الخروج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الكامل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0" y="3829050"/>
            <a:ext cx="4953000" cy="548580"/>
          </a:xfrm>
          <a:prstGeom prst="rect">
            <a:avLst/>
          </a:prstGeom>
          <a:noFill/>
        </p:spPr>
        <p:txBody>
          <a:bodyPr wrap="square" lIns="180975" tIns="0" rIns="0" bIns="0" anchor="t">
            <a:spAutoFit/>
          </a:bodyPr>
          <a:lstStyle/>
          <a:p>
            <a:pPr algn="r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النسخ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الاحتياطي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الفوري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إمكانية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إنشاء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نسخة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احتياطية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لقاعدة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البيانات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أوفلاين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أو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سحابياً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لمنع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فقدان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البيانات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568130"/>
            <a:ext cx="4953000" cy="250966"/>
          </a:xfrm>
          <a:prstGeom prst="rect">
            <a:avLst/>
          </a:prstGeom>
          <a:noFill/>
        </p:spPr>
        <p:txBody>
          <a:bodyPr wrap="square" lIns="209550" tIns="0" rIns="0" bIns="0" anchor="t">
            <a:spAutoFit/>
          </a:bodyPr>
          <a:lstStyle/>
          <a:p>
            <a:pPr algn="l" rtl="1">
              <a:lnSpc>
                <a:spcPts val="2160"/>
              </a:lnSpc>
            </a:pP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تسجيل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الخروج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1" i="0" u="none" dirty="0" err="1">
                <a:solidFill>
                  <a:srgbClr val="334155"/>
                </a:solidFill>
                <a:latin typeface="Tajawal"/>
              </a:rPr>
              <a:t>الآمن</a:t>
            </a:r>
            <a:r>
              <a:rPr sz="1350" b="1" i="0" u="none" dirty="0">
                <a:solidFill>
                  <a:srgbClr val="334155"/>
                </a:solidFill>
                <a:latin typeface="Tajawal"/>
              </a:rPr>
              <a:t>: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إنهاء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الجلسة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الحالية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وحماية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النظام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من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الوصول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غير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 </a:t>
            </a:r>
            <a:r>
              <a:rPr sz="1350" b="0" i="0" u="none" dirty="0" err="1">
                <a:solidFill>
                  <a:srgbClr val="334155"/>
                </a:solidFill>
                <a:latin typeface="Tajawal"/>
              </a:rPr>
              <a:t>المصرح</a:t>
            </a:r>
            <a:r>
              <a:rPr sz="1350" b="0" i="0" u="none" dirty="0">
                <a:solidFill>
                  <a:srgbClr val="334155"/>
                </a:solidFill>
                <a:latin typeface="Tajawal"/>
              </a:rPr>
              <a:t>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9525" y="3123307"/>
            <a:ext cx="180975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9525" y="3862387"/>
            <a:ext cx="180975" cy="2190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10950" y="4601467"/>
            <a:ext cx="209550" cy="21907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193" y="476250"/>
            <a:ext cx="11451431" cy="647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2700" b="0" i="0" u="none">
                <a:solidFill>
                  <a:srgbClr val="0F172A"/>
                </a:solidFill>
                <a:latin typeface="Cairo ExtraBold"/>
              </a:rPr>
              <a:t>أدوات التحكم السريعة والأمان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572875" y="476250"/>
            <a:ext cx="47625" cy="6477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61448" y="2469821"/>
            <a:ext cx="2367651" cy="174512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21920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 dirty="0" err="1">
                <a:solidFill>
                  <a:srgbClr val="0F172A"/>
                </a:solidFill>
                <a:latin typeface="Cairo"/>
              </a:rPr>
              <a:t>هل</a:t>
            </a:r>
            <a:r>
              <a:rPr sz="48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4800" b="1" i="0" u="none" dirty="0" err="1">
                <a:solidFill>
                  <a:srgbClr val="0F172A"/>
                </a:solidFill>
                <a:latin typeface="Cairo"/>
              </a:rPr>
              <a:t>لديك</a:t>
            </a:r>
            <a:r>
              <a:rPr sz="48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4800" b="1" i="0" u="none" dirty="0" err="1">
                <a:solidFill>
                  <a:srgbClr val="0F172A"/>
                </a:solidFill>
                <a:latin typeface="Cairo"/>
              </a:rPr>
              <a:t>أي</a:t>
            </a:r>
            <a:r>
              <a:rPr sz="4800" b="1" i="0" u="none" dirty="0">
                <a:solidFill>
                  <a:srgbClr val="0F172A"/>
                </a:solidFill>
                <a:latin typeface="Cairo"/>
              </a:rPr>
              <a:t> </a:t>
            </a:r>
            <a:r>
              <a:rPr sz="4800" b="1" i="0" u="none" dirty="0" err="1">
                <a:solidFill>
                  <a:srgbClr val="0F172A"/>
                </a:solidFill>
                <a:latin typeface="Cairo"/>
              </a:rPr>
              <a:t>استفسارات</a:t>
            </a:r>
            <a:r>
              <a:rPr sz="4800" b="1" i="0" u="none" dirty="0">
                <a:solidFill>
                  <a:srgbClr val="0F172A"/>
                </a:solidFill>
                <a:latin typeface="Cairo"/>
              </a:rPr>
              <a:t>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771650"/>
            <a:ext cx="11049000" cy="331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نظام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إدارة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معامل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الأسنان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المتكامل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lang="ar-EG" sz="1800" b="0" i="0" u="none" dirty="0" smtClean="0">
                <a:solidFill>
                  <a:srgbClr val="475569"/>
                </a:solidFill>
                <a:latin typeface="Tajawal"/>
              </a:rPr>
              <a:t>_</a:t>
            </a:r>
            <a:r>
              <a:rPr sz="1800" b="0" i="0" u="none" dirty="0" smtClean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كفاءة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،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أمان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،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وسهولة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في</a:t>
            </a:r>
            <a:r>
              <a:rPr sz="1800" b="0" i="0" u="none" dirty="0">
                <a:solidFill>
                  <a:srgbClr val="475569"/>
                </a:solidFill>
                <a:latin typeface="Tajawal"/>
              </a:rPr>
              <a:t> </a:t>
            </a:r>
            <a:r>
              <a:rPr sz="1800" b="0" i="0" u="none" dirty="0" err="1">
                <a:solidFill>
                  <a:srgbClr val="475569"/>
                </a:solidFill>
                <a:latin typeface="Tajawal"/>
              </a:rPr>
              <a:t>الاستخدام</a:t>
            </a:r>
            <a:endParaRPr sz="1800" b="0" i="0" u="none" dirty="0">
              <a:solidFill>
                <a:srgbClr val="475569"/>
              </a:solidFill>
              <a:latin typeface="Tajaw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18115" y="3027522"/>
            <a:ext cx="4785631" cy="276999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ar-EG" sz="1800" b="1" i="0" u="none" dirty="0" smtClean="0">
                <a:solidFill>
                  <a:srgbClr val="0369A1"/>
                </a:solidFill>
                <a:latin typeface="Cairo"/>
              </a:rPr>
              <a:t>الدعم الفني 01009039628</a:t>
            </a:r>
            <a:endParaRPr sz="1800" b="1" i="0" u="none" dirty="0">
              <a:solidFill>
                <a:srgbClr val="0369A1"/>
              </a:solidFill>
              <a:latin typeface="Cairo"/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292" y="3076214"/>
            <a:ext cx="190500" cy="190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747</Words>
  <Application>Microsoft Office PowerPoint</Application>
  <PresentationFormat>Widescreen</PresentationFormat>
  <Paragraphs>70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Cairo</vt:lpstr>
      <vt:lpstr>Cairo ExtraBold</vt:lpstr>
      <vt:lpstr>Calibri</vt:lpstr>
      <vt:lpstr>Tajawal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Hassan abdelaziz</dc:creator>
  <cp:keywords/>
  <dc:description>generated using python-pptx</dc:description>
  <cp:lastModifiedBy>Ahmed Mansour</cp:lastModifiedBy>
  <cp:revision>31</cp:revision>
  <dcterms:created xsi:type="dcterms:W3CDTF">2013-01-27T09:14:16Z</dcterms:created>
  <dcterms:modified xsi:type="dcterms:W3CDTF">2026-09-07T13:07:33Z</dcterms:modified>
  <cp:category/>
</cp:coreProperties>
</file>