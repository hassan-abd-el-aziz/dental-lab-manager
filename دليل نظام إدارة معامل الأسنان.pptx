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69" r:id="rId6"/>
    <p:sldId id="270" r:id="rId7"/>
    <p:sldId id="264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60" r:id="rId18"/>
    <p:sldId id="26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9" d="100"/>
          <a:sy n="99" d="100"/>
        </p:scale>
        <p:origin x="939" y="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771" y="2166044"/>
            <a:ext cx="2892879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728019"/>
            <a:ext cx="1160145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4500" b="1" i="0" u="none">
                <a:solidFill>
                  <a:srgbClr val="0F172A"/>
                </a:solidFill>
                <a:latin typeface="Cairo"/>
              </a:rPr>
              <a:t>دليل واجهات وقوائم نظام إدارة معامل الأسنان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6462" y="4242494"/>
            <a:ext cx="78390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 dirty="0" err="1">
                <a:solidFill>
                  <a:srgbClr val="64748B"/>
                </a:solidFill>
                <a:latin typeface="Tajawal"/>
              </a:rPr>
              <a:t>شرح</a:t>
            </a:r>
            <a:r>
              <a:rPr sz="1650" b="0" i="0" u="none" dirty="0">
                <a:solidFill>
                  <a:srgbClr val="64748B"/>
                </a:solidFill>
                <a:latin typeface="Tajawal"/>
              </a:rPr>
              <a:t> </a:t>
            </a:r>
            <a:r>
              <a:rPr sz="1650" b="0" i="0" u="none" dirty="0" err="1">
                <a:solidFill>
                  <a:srgbClr val="64748B"/>
                </a:solidFill>
                <a:latin typeface="Tajawal"/>
              </a:rPr>
              <a:t>تفصيلي</a:t>
            </a:r>
            <a:r>
              <a:rPr sz="1650" b="0" i="0" u="none" dirty="0">
                <a:solidFill>
                  <a:srgbClr val="64748B"/>
                </a:solidFill>
                <a:latin typeface="Tajawal"/>
              </a:rPr>
              <a:t> </a:t>
            </a:r>
            <a:r>
              <a:rPr sz="1650" b="0" i="0" u="none" dirty="0" err="1">
                <a:solidFill>
                  <a:srgbClr val="64748B"/>
                </a:solidFill>
                <a:latin typeface="Tajawal"/>
              </a:rPr>
              <a:t>شامل</a:t>
            </a:r>
            <a:r>
              <a:rPr sz="1650" b="0" i="0" u="none" dirty="0">
                <a:solidFill>
                  <a:srgbClr val="64748B"/>
                </a:solidFill>
                <a:latin typeface="Tajawal"/>
              </a:rPr>
              <a:t> </a:t>
            </a:r>
            <a:r>
              <a:rPr sz="1650" b="0" i="0" u="none" dirty="0" err="1">
                <a:solidFill>
                  <a:srgbClr val="64748B"/>
                </a:solidFill>
                <a:latin typeface="Tajawal"/>
              </a:rPr>
              <a:t>لكافة</a:t>
            </a:r>
            <a:r>
              <a:rPr sz="1650" b="0" i="0" u="none" dirty="0">
                <a:solidFill>
                  <a:srgbClr val="64748B"/>
                </a:solidFill>
                <a:latin typeface="Tajawal"/>
              </a:rPr>
              <a:t> </a:t>
            </a:r>
            <a:r>
              <a:rPr sz="1650" b="0" i="0" u="none" dirty="0" err="1">
                <a:solidFill>
                  <a:srgbClr val="64748B"/>
                </a:solidFill>
                <a:latin typeface="Tajawal"/>
              </a:rPr>
              <a:t>المكونات</a:t>
            </a:r>
            <a:r>
              <a:rPr sz="1650" b="0" i="0" u="none" dirty="0">
                <a:solidFill>
                  <a:srgbClr val="64748B"/>
                </a:solidFill>
                <a:latin typeface="Tajawal"/>
              </a:rPr>
              <a:t>، </a:t>
            </a:r>
            <a:r>
              <a:rPr sz="1650" b="0" i="0" u="none" dirty="0" err="1">
                <a:solidFill>
                  <a:srgbClr val="64748B"/>
                </a:solidFill>
                <a:latin typeface="Tajawal"/>
              </a:rPr>
              <a:t>القوائم</a:t>
            </a:r>
            <a:r>
              <a:rPr sz="1650" b="0" i="0" u="none" dirty="0">
                <a:solidFill>
                  <a:srgbClr val="64748B"/>
                </a:solidFill>
                <a:latin typeface="Tajawal"/>
              </a:rPr>
              <a:t> </a:t>
            </a:r>
            <a:r>
              <a:rPr sz="1650" b="0" i="0" u="none" dirty="0" err="1">
                <a:solidFill>
                  <a:srgbClr val="64748B"/>
                </a:solidFill>
                <a:latin typeface="Tajawal"/>
              </a:rPr>
              <a:t>التشغيلية</a:t>
            </a:r>
            <a:r>
              <a:rPr sz="1650" b="0" i="0" u="none" dirty="0">
                <a:solidFill>
                  <a:srgbClr val="64748B"/>
                </a:solidFill>
                <a:latin typeface="Tajawal"/>
              </a:rPr>
              <a:t>، </a:t>
            </a:r>
            <a:r>
              <a:rPr sz="1650" b="0" i="0" u="none" dirty="0" err="1">
                <a:solidFill>
                  <a:srgbClr val="64748B"/>
                </a:solidFill>
                <a:latin typeface="Tajawal"/>
              </a:rPr>
              <a:t>الأدوات</a:t>
            </a:r>
            <a:r>
              <a:rPr sz="1650" b="0" i="0" u="none" dirty="0">
                <a:solidFill>
                  <a:srgbClr val="64748B"/>
                </a:solidFill>
                <a:latin typeface="Tajawal"/>
              </a:rPr>
              <a:t> </a:t>
            </a:r>
            <a:r>
              <a:rPr sz="1650" b="0" i="0" u="none" dirty="0" err="1">
                <a:solidFill>
                  <a:srgbClr val="64748B"/>
                </a:solidFill>
                <a:latin typeface="Tajawal"/>
              </a:rPr>
              <a:t>التفاعلية</a:t>
            </a:r>
            <a:r>
              <a:rPr sz="1650" b="0" i="0" u="none" dirty="0">
                <a:solidFill>
                  <a:srgbClr val="64748B"/>
                </a:solidFill>
                <a:latin typeface="Tajawal"/>
              </a:rPr>
              <a:t>، </a:t>
            </a:r>
            <a:r>
              <a:rPr sz="1650" b="0" i="0" u="none" dirty="0" err="1">
                <a:solidFill>
                  <a:srgbClr val="64748B"/>
                </a:solidFill>
                <a:latin typeface="Tajawal"/>
              </a:rPr>
              <a:t>وآليات</a:t>
            </a:r>
            <a:r>
              <a:rPr sz="1650" b="0" i="0" u="none" dirty="0">
                <a:solidFill>
                  <a:srgbClr val="64748B"/>
                </a:solidFill>
                <a:latin typeface="Tajawal"/>
              </a:rPr>
              <a:t> </a:t>
            </a:r>
            <a:r>
              <a:rPr sz="1650" b="0" i="0" u="none" dirty="0" err="1">
                <a:solidFill>
                  <a:srgbClr val="64748B"/>
                </a:solidFill>
                <a:latin typeface="Tajawal"/>
              </a:rPr>
              <a:t>الأمان</a:t>
            </a:r>
            <a:r>
              <a:rPr sz="1650" b="0" i="0" u="none" dirty="0">
                <a:solidFill>
                  <a:srgbClr val="64748B"/>
                </a:solidFill>
                <a:latin typeface="Tajawal"/>
              </a:rPr>
              <a:t> </a:t>
            </a:r>
            <a:r>
              <a:rPr sz="1650" b="0" i="0" u="none" dirty="0" err="1">
                <a:solidFill>
                  <a:srgbClr val="64748B"/>
                </a:solidFill>
                <a:latin typeface="Tajawal"/>
              </a:rPr>
              <a:t>المدمجة</a:t>
            </a:r>
            <a:endParaRPr sz="1650" b="0" i="0" u="none" dirty="0">
              <a:solidFill>
                <a:srgbClr val="64748B"/>
              </a:solidFill>
              <a:latin typeface="Tajawal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150" y="2264016"/>
            <a:ext cx="1524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560314"/>
            <a:ext cx="5334000" cy="24687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60314"/>
            <a:ext cx="5334000" cy="2468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1775" y="1884164"/>
            <a:ext cx="4980622" cy="276999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lvl="2" algn="r" rtl="1"/>
            <a:r>
              <a:rPr b="1" i="0" u="none" dirty="0" err="1">
                <a:solidFill>
                  <a:srgbClr val="0369A1"/>
                </a:solidFill>
                <a:latin typeface="Cairo"/>
              </a:rPr>
              <a:t>التصميم</a:t>
            </a:r>
            <a:r>
              <a:rPr b="1" i="0" u="none" dirty="0">
                <a:solidFill>
                  <a:srgbClr val="0369A1"/>
                </a:solidFill>
                <a:latin typeface="Cairo"/>
              </a:rPr>
              <a:t> </a:t>
            </a:r>
            <a:r>
              <a:rPr b="1" i="0" u="none" dirty="0" err="1">
                <a:solidFill>
                  <a:srgbClr val="0369A1"/>
                </a:solidFill>
                <a:latin typeface="Cairo"/>
              </a:rPr>
              <a:t>البصري</a:t>
            </a:r>
            <a:r>
              <a:rPr b="1" i="0" u="none" dirty="0">
                <a:solidFill>
                  <a:srgbClr val="0369A1"/>
                </a:solidFill>
                <a:latin typeface="Cairo"/>
              </a:rPr>
              <a:t> (Sidebar UI)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775" y="2408039"/>
            <a:ext cx="5229225" cy="533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0975" indent="-180975" algn="r" rtl="1">
              <a:lnSpc>
                <a:spcPts val="2160"/>
              </a:lnSpc>
              <a:buFont typeface="Arial" panose="020B0604020202020204" pitchFamily="34" charset="0"/>
              <a:buChar char="•"/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تستقر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القائمة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الجانبية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على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الجهة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اليمنى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الشاشة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بتصميم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داكن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فاخر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(Dark Navy Blue) </a:t>
            </a:r>
            <a:r>
              <a:rPr lang="ar-EG" sz="1350" b="0" i="0" u="none" dirty="0" smtClean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 smtClean="0">
                <a:solidFill>
                  <a:srgbClr val="334155"/>
                </a:solidFill>
                <a:latin typeface="Tajawal"/>
              </a:rPr>
              <a:t>يمنح</a:t>
            </a:r>
            <a:r>
              <a:rPr sz="1350" b="0" i="0" u="none" dirty="0" smtClean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تباينًا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ممتازا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مع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منطقة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العمل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الرئيسية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070920"/>
            <a:ext cx="47434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88900" indent="-88900" algn="r" rtl="1">
              <a:lnSpc>
                <a:spcPts val="2160"/>
              </a:lnSpc>
              <a:buFont typeface="Arial" panose="020B0604020202020204" pitchFamily="34" charset="0"/>
              <a:buChar char="•"/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تضمن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التجربة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الفائقة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سهولة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الوصول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المباشر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للوحدات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وتخفيف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إجهاد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العين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أثناء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العمل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اليومي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المستمر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داخل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المعمل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966" y="1901012"/>
            <a:ext cx="3520614" cy="276999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r" rtl="1"/>
            <a:r>
              <a:rPr sz="1800" b="1" i="0" u="none" dirty="0" err="1">
                <a:solidFill>
                  <a:srgbClr val="0369A1"/>
                </a:solidFill>
                <a:latin typeface="Cairo"/>
              </a:rPr>
              <a:t>التكامل</a:t>
            </a:r>
            <a:r>
              <a:rPr sz="1800" b="1" i="0" u="none" dirty="0">
                <a:solidFill>
                  <a:srgbClr val="0369A1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0369A1"/>
                </a:solidFill>
                <a:latin typeface="Cairo"/>
              </a:rPr>
              <a:t>والقدرات</a:t>
            </a:r>
            <a:r>
              <a:rPr sz="1800" b="1" i="0" u="none" dirty="0">
                <a:solidFill>
                  <a:srgbClr val="0369A1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0369A1"/>
                </a:solidFill>
                <a:latin typeface="Cairo"/>
              </a:rPr>
              <a:t>التشغيلية</a:t>
            </a:r>
            <a:endParaRPr sz="1800" b="1" i="0" u="none" dirty="0">
              <a:solidFill>
                <a:srgbClr val="0369A1"/>
              </a:solidFill>
              <a:latin typeface="Cair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6775" y="2408039"/>
            <a:ext cx="47434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0975" indent="-180975" algn="r" rtl="1">
              <a:lnSpc>
                <a:spcPts val="2160"/>
              </a:lnSpc>
              <a:buFont typeface="Arial" panose="020B0604020202020204" pitchFamily="34" charset="0"/>
              <a:buChar char="•"/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ربط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شامل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بين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دورة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العمل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الفنية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lang="ar-EG" sz="1350" b="0" i="0" u="none" dirty="0" smtClean="0">
                <a:solidFill>
                  <a:srgbClr val="334155"/>
                </a:solidFill>
                <a:latin typeface="Tajawal"/>
              </a:rPr>
              <a:t>(</a:t>
            </a:r>
            <a:r>
              <a:rPr sz="1350" b="0" i="0" u="none" dirty="0" err="1" smtClean="0">
                <a:solidFill>
                  <a:srgbClr val="334155"/>
                </a:solidFill>
                <a:latin typeface="Tajawal"/>
              </a:rPr>
              <a:t>التصنيع</a:t>
            </a:r>
            <a:r>
              <a:rPr lang="en-GB" sz="1350" dirty="0" smtClean="0">
                <a:solidFill>
                  <a:srgbClr val="334155"/>
                </a:solidFill>
                <a:latin typeface="Tajawal"/>
              </a:rPr>
              <a:t> </a:t>
            </a:r>
            <a:r>
              <a:rPr lang="ar-EG" sz="1350" dirty="0" smtClean="0">
                <a:solidFill>
                  <a:srgbClr val="334155"/>
                </a:solidFill>
                <a:latin typeface="Tajawal"/>
              </a:rPr>
              <a:t>والتسليم</a:t>
            </a:r>
            <a:r>
              <a:rPr lang="ar-EG" sz="1350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 smtClean="0">
                <a:solidFill>
                  <a:srgbClr val="334155"/>
                </a:solidFill>
                <a:latin typeface="Tajawal"/>
              </a:rPr>
              <a:t>والدورة</a:t>
            </a:r>
            <a:r>
              <a:rPr sz="1350" b="0" i="0" u="none" dirty="0" smtClean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المالية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(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الفواتير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والتحصيل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)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مع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إدارة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الأطباء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 smtClean="0">
                <a:solidFill>
                  <a:srgbClr val="334155"/>
                </a:solidFill>
                <a:latin typeface="Tajawal"/>
              </a:rPr>
              <a:t>والمخزون</a:t>
            </a:r>
            <a:r>
              <a:rPr lang="ar-EG" sz="1350" dirty="0" smtClean="0">
                <a:solidFill>
                  <a:srgbClr val="334155"/>
                </a:solidFill>
                <a:latin typeface="Tajawal"/>
              </a:rPr>
              <a:t>).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6775" y="3070920"/>
            <a:ext cx="47434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0975" indent="-180975" algn="r" rtl="1">
              <a:lnSpc>
                <a:spcPts val="2160"/>
              </a:lnSpc>
              <a:buFont typeface="Arial" panose="020B0604020202020204" pitchFamily="34" charset="0"/>
              <a:buChar char="•"/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توفير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أدوات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أمان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متكاملة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كالقفل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الفوري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والنسخ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الاحتياطي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وسجلات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التتبع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والتدقيق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الشاملة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للعمليات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6169" y="1908363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1046" y="1908363"/>
            <a:ext cx="28575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0" y="714789"/>
            <a:ext cx="11451431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700" b="0" i="0" u="none" dirty="0" err="1">
                <a:solidFill>
                  <a:srgbClr val="0F172A"/>
                </a:solidFill>
                <a:latin typeface="Cairo ExtraBold"/>
              </a:rPr>
              <a:t>النظرة</a:t>
            </a:r>
            <a:r>
              <a:rPr sz="2700" b="0" i="0" u="none" dirty="0">
                <a:solidFill>
                  <a:srgbClr val="0F172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0F172A"/>
                </a:solidFill>
                <a:latin typeface="Cairo ExtraBold"/>
              </a:rPr>
              <a:t>العامة</a:t>
            </a:r>
            <a:r>
              <a:rPr sz="2700" b="0" i="0" u="none" dirty="0">
                <a:solidFill>
                  <a:srgbClr val="0F172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0F172A"/>
                </a:solidFill>
                <a:latin typeface="Cairo ExtraBold"/>
              </a:rPr>
              <a:t>والتصميم</a:t>
            </a:r>
            <a:r>
              <a:rPr sz="2700" b="0" i="0" u="none" dirty="0">
                <a:solidFill>
                  <a:srgbClr val="0F172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0F172A"/>
                </a:solidFill>
                <a:latin typeface="Cairo ExtraBold"/>
              </a:rPr>
              <a:t>الهيكلي</a:t>
            </a:r>
            <a:endParaRPr sz="2700" b="0" i="0" u="none" dirty="0">
              <a:solidFill>
                <a:srgbClr val="0F172A"/>
              </a:solidFill>
              <a:latin typeface="Cairo ExtraBold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546682" y="714789"/>
            <a:ext cx="47625" cy="6477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14" y="4341614"/>
            <a:ext cx="10722429" cy="214627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3157" y="4996641"/>
            <a:ext cx="10668000" cy="250966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sz="1350" b="1" i="0" u="none" dirty="0" err="1">
                <a:solidFill>
                  <a:srgbClr val="334155"/>
                </a:solidFill>
                <a:latin typeface="Tajawal"/>
              </a:rPr>
              <a:t>إدارة</a:t>
            </a:r>
            <a:r>
              <a:rPr sz="135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Tajawal"/>
              </a:rPr>
              <a:t>الفواتير</a:t>
            </a:r>
            <a:r>
              <a:rPr sz="135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Tajawal"/>
              </a:rPr>
              <a:t>والمدفوعات</a:t>
            </a:r>
            <a:r>
              <a:rPr sz="1350" b="1" i="0" u="none" dirty="0">
                <a:solidFill>
                  <a:srgbClr val="334155"/>
                </a:solidFill>
                <a:latin typeface="Tajawal"/>
              </a:rPr>
              <a:t>: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إصدار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ومتابعة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الفواتير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الصادرة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للعملاء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تسجيل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المقبوضات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والدفعات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النقدية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والمصرفية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مع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إمكانية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الطباعة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والحذف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157" y="5461431"/>
            <a:ext cx="10668000" cy="250966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sz="1350" b="1" i="0" u="none" dirty="0" err="1">
                <a:solidFill>
                  <a:srgbClr val="334155"/>
                </a:solidFill>
                <a:latin typeface="Tajawal"/>
              </a:rPr>
              <a:t>مراقبة</a:t>
            </a:r>
            <a:r>
              <a:rPr sz="135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Tajawal"/>
              </a:rPr>
              <a:t>المخزون</a:t>
            </a:r>
            <a:r>
              <a:rPr sz="135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Tajawal"/>
              </a:rPr>
              <a:t>الفعلي</a:t>
            </a:r>
            <a:r>
              <a:rPr sz="1350" b="1" i="0" u="none" dirty="0">
                <a:solidFill>
                  <a:srgbClr val="334155"/>
                </a:solidFill>
                <a:latin typeface="Tajawal"/>
              </a:rPr>
              <a:t>: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متابعة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ديسكات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الزيركون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المستلزمات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الطبية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إمكانية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السحب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السريع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الجرد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والتنبيه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عند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نقص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المواد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157" y="5926222"/>
            <a:ext cx="10668000" cy="250966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sz="1350" b="1" i="0" u="none" dirty="0" err="1">
                <a:solidFill>
                  <a:srgbClr val="334155"/>
                </a:solidFill>
                <a:latin typeface="Tajawal"/>
              </a:rPr>
              <a:t>المصروفات</a:t>
            </a:r>
            <a:r>
              <a:rPr sz="135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Tajawal"/>
              </a:rPr>
              <a:t>والنفقات</a:t>
            </a:r>
            <a:r>
              <a:rPr sz="135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Tajawal"/>
              </a:rPr>
              <a:t>التشغيلية</a:t>
            </a:r>
            <a:r>
              <a:rPr sz="1350" b="1" i="0" u="none" dirty="0">
                <a:solidFill>
                  <a:srgbClr val="334155"/>
                </a:solidFill>
                <a:latin typeface="Tajawal"/>
              </a:rPr>
              <a:t>: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تسجيل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نفقات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المعمل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والمشتريات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وتصنيفها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لعرض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إجمالي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المصروفات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بدقة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157" y="6391012"/>
            <a:ext cx="10668000" cy="250966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sz="1350" b="1" i="0" u="none" dirty="0" err="1">
                <a:solidFill>
                  <a:srgbClr val="334155"/>
                </a:solidFill>
                <a:latin typeface="Tajawal"/>
              </a:rPr>
              <a:t>التقارير</a:t>
            </a:r>
            <a:r>
              <a:rPr sz="135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Tajawal"/>
              </a:rPr>
              <a:t>الشاملة</a:t>
            </a:r>
            <a:r>
              <a:rPr sz="1350" b="1" i="0" u="none" dirty="0">
                <a:solidFill>
                  <a:srgbClr val="334155"/>
                </a:solidFill>
                <a:latin typeface="Tajawal"/>
              </a:rPr>
              <a:t>: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استخراج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التقارير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المالية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والتشغيلية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المخصصة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حسب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التاريخ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lang="ar-EG" sz="1350" b="0" i="0" u="none" dirty="0" smtClean="0">
                <a:solidFill>
                  <a:srgbClr val="334155"/>
                </a:solidFill>
                <a:latin typeface="Tajawal"/>
              </a:rPr>
              <a:t>(ا</a:t>
            </a:r>
            <a:r>
              <a:rPr sz="1350" b="0" i="0" u="none" dirty="0" err="1" smtClean="0">
                <a:solidFill>
                  <a:srgbClr val="334155"/>
                </a:solidFill>
                <a:latin typeface="Tajawal"/>
              </a:rPr>
              <a:t>ليوم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هذا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الشهر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خيار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تخصيص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 smtClean="0">
                <a:solidFill>
                  <a:srgbClr val="334155"/>
                </a:solidFill>
                <a:latin typeface="Tajawal"/>
              </a:rPr>
              <a:t>الفترة</a:t>
            </a:r>
            <a:r>
              <a:rPr lang="ar-EG" sz="1350" b="0" i="0" u="none" dirty="0" smtClean="0">
                <a:solidFill>
                  <a:srgbClr val="334155"/>
                </a:solidFill>
                <a:latin typeface="Tajawal"/>
              </a:rPr>
              <a:t>).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57845" y="5078109"/>
            <a:ext cx="161925" cy="2190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05457" y="5494769"/>
            <a:ext cx="266700" cy="2190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9745" y="5959559"/>
            <a:ext cx="23812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19745" y="6424349"/>
            <a:ext cx="238125" cy="219075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1224532" y="4559386"/>
            <a:ext cx="47625" cy="352163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98365" y="4530443"/>
            <a:ext cx="2454729" cy="276999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marL="0" lvl="2" algn="r" rtl="1"/>
            <a:r>
              <a:rPr lang="ar-EG" b="1" i="0" u="none" dirty="0" smtClean="0">
                <a:solidFill>
                  <a:srgbClr val="0369A1"/>
                </a:solidFill>
                <a:latin typeface="Cairo"/>
              </a:rPr>
              <a:t>الإدارة المالية والمخزون</a:t>
            </a:r>
            <a:endParaRPr b="1" i="0" u="none" dirty="0">
              <a:solidFill>
                <a:srgbClr val="0369A1"/>
              </a:solidFill>
              <a:latin typeface="Cai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22181" y="476250"/>
            <a:ext cx="5550693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700" b="0" i="0" u="none">
                <a:solidFill>
                  <a:srgbClr val="0F172A"/>
                </a:solidFill>
                <a:latin typeface="Cairo ExtraBold"/>
              </a:rPr>
              <a:t>شاشة تسجيل الدخول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68125" y="476250"/>
            <a:ext cx="47625" cy="6477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67413" y="1559854"/>
            <a:ext cx="57007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1800" b="1" i="0" u="none" dirty="0" err="1">
                <a:solidFill>
                  <a:srgbClr val="0369A1"/>
                </a:solidFill>
                <a:latin typeface="Cairo"/>
              </a:rPr>
              <a:t>تصميم</a:t>
            </a:r>
            <a:r>
              <a:rPr sz="1800" b="1" i="0" u="none" dirty="0">
                <a:solidFill>
                  <a:srgbClr val="0369A1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0369A1"/>
                </a:solidFill>
                <a:latin typeface="Cairo"/>
              </a:rPr>
              <a:t>جذاب</a:t>
            </a:r>
            <a:r>
              <a:rPr sz="1800" b="1" i="0" u="none" dirty="0">
                <a:solidFill>
                  <a:srgbClr val="0369A1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0369A1"/>
                </a:solidFill>
                <a:latin typeface="Cairo"/>
              </a:rPr>
              <a:t>وأمان</a:t>
            </a:r>
            <a:r>
              <a:rPr sz="1800" b="1" i="0" u="none" dirty="0">
                <a:solidFill>
                  <a:srgbClr val="0369A1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0369A1"/>
                </a:solidFill>
                <a:latin typeface="Cairo"/>
              </a:rPr>
              <a:t>عالي</a:t>
            </a:r>
            <a:endParaRPr sz="1800" b="1" i="0" u="none" dirty="0">
              <a:solidFill>
                <a:srgbClr val="0369A1"/>
              </a:solidFill>
              <a:latin typeface="Cair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9932" y="2272757"/>
            <a:ext cx="5035817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تتضمن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حقول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أدخال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اسم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المستخدم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وكلمة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 smtClean="0">
                <a:solidFill>
                  <a:srgbClr val="334155"/>
                </a:solidFill>
                <a:latin typeface="Tajawal"/>
              </a:rPr>
              <a:t>المرور</a:t>
            </a:r>
            <a:r>
              <a:rPr lang="ar-EG" sz="1350" b="0" i="0" u="none" dirty="0" smtClean="0">
                <a:solidFill>
                  <a:srgbClr val="334155"/>
                </a:solidFill>
                <a:latin typeface="Tajawal"/>
              </a:rPr>
              <a:t>، </a:t>
            </a:r>
            <a:r>
              <a:rPr sz="1350" b="0" i="0" u="none" dirty="0" err="1" smtClean="0">
                <a:solidFill>
                  <a:srgbClr val="334155"/>
                </a:solidFill>
                <a:latin typeface="Tajawal"/>
              </a:rPr>
              <a:t>بالإضافة</a:t>
            </a:r>
            <a:r>
              <a:rPr sz="1350" b="0" i="0" u="none" dirty="0" smtClean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إلى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معلومات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التواصل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المباشرة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مع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الدعم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الفني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لتقديم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المساعدة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السريعة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764" y="843643"/>
            <a:ext cx="552296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425911"/>
            <a:ext cx="3390900" cy="22741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62097" y="3292686"/>
            <a:ext cx="222027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 i="0" u="none">
                <a:solidFill>
                  <a:srgbClr val="0369A1"/>
                </a:solidFill>
                <a:latin typeface="Cairo"/>
              </a:rPr>
              <a:t>لوحة التحكم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06697" y="3732568"/>
            <a:ext cx="3236705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عرض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المؤشرات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المالية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إجمالي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الطلبات</a:t>
            </a:r>
            <a:r>
              <a:rPr sz="1350" b="0" i="0" u="none" dirty="0" smtClean="0">
                <a:solidFill>
                  <a:srgbClr val="334155"/>
                </a:solidFill>
                <a:latin typeface="Tajawal"/>
              </a:rPr>
              <a:t>،</a:t>
            </a:r>
            <a:r>
              <a:rPr lang="ar-EG" sz="1350" b="0" i="0" u="none" dirty="0" smtClean="0">
                <a:solidFill>
                  <a:srgbClr val="334155"/>
                </a:solidFill>
                <a:latin typeface="Tajawal"/>
              </a:rPr>
              <a:t> إجمالي الفواتير،</a:t>
            </a:r>
            <a:r>
              <a:rPr sz="1350" b="0" i="0" u="none" dirty="0" smtClean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الرسوم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 smtClean="0">
                <a:solidFill>
                  <a:srgbClr val="334155"/>
                </a:solidFill>
                <a:latin typeface="Tajawal"/>
              </a:rPr>
              <a:t>البيانية</a:t>
            </a:r>
            <a:r>
              <a:rPr lang="ar-EG" sz="1350" dirty="0" smtClean="0">
                <a:solidFill>
                  <a:srgbClr val="334155"/>
                </a:solidFill>
                <a:latin typeface="Tajawal"/>
              </a:rPr>
              <a:t>، حسب اليوم الحالي او ماتم إختياره.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475" y="2692611"/>
            <a:ext cx="342900" cy="34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193" y="476250"/>
            <a:ext cx="11451431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700" b="0" i="0" u="none">
                <a:solidFill>
                  <a:srgbClr val="0F172A"/>
                </a:solidFill>
                <a:latin typeface="Cairo ExtraBold"/>
              </a:rPr>
              <a:t>القائمة الجانبية: الوحدات التشغيلية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3" y="1331567"/>
            <a:ext cx="7955245" cy="42848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0713" y="1796018"/>
            <a:ext cx="3066911" cy="23988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19221" y="2662793"/>
            <a:ext cx="222027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 i="0" u="none" dirty="0" err="1" smtClean="0">
                <a:solidFill>
                  <a:srgbClr val="0369A1"/>
                </a:solidFill>
                <a:latin typeface="Cairo"/>
              </a:rPr>
              <a:t>دليل</a:t>
            </a:r>
            <a:r>
              <a:rPr sz="1800" b="1" i="0" u="none" dirty="0" smtClean="0">
                <a:solidFill>
                  <a:srgbClr val="0369A1"/>
                </a:solidFill>
                <a:latin typeface="Cairo"/>
              </a:rPr>
              <a:t> </a:t>
            </a:r>
            <a:r>
              <a:rPr sz="1800" b="1" i="0" u="none" dirty="0" err="1" smtClean="0">
                <a:solidFill>
                  <a:srgbClr val="0369A1"/>
                </a:solidFill>
                <a:latin typeface="Cairo"/>
              </a:rPr>
              <a:t>الأطباء</a:t>
            </a:r>
            <a:endParaRPr sz="1800" b="1" i="0" u="none" dirty="0">
              <a:solidFill>
                <a:srgbClr val="0369A1"/>
              </a:solidFill>
              <a:latin typeface="Cair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76974" y="3186668"/>
            <a:ext cx="2762524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350" b="0" i="0" u="none" dirty="0" smtClean="0">
                <a:solidFill>
                  <a:srgbClr val="334155"/>
                </a:solidFill>
                <a:latin typeface="Tajawal"/>
              </a:rPr>
              <a:t>إضافة اللأطباء و </a:t>
            </a:r>
            <a:r>
              <a:rPr sz="1350" b="0" i="0" u="none" dirty="0" err="1" smtClean="0">
                <a:solidFill>
                  <a:srgbClr val="334155"/>
                </a:solidFill>
                <a:latin typeface="Tajawal"/>
              </a:rPr>
              <a:t>إدارة</a:t>
            </a:r>
            <a:r>
              <a:rPr sz="1350" b="0" i="0" u="none" dirty="0" smtClean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سجلات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الأطباء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المتعاملين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مع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المعمل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تعديل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الحسابات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والربط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المالي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 smtClean="0">
                <a:solidFill>
                  <a:srgbClr val="334155"/>
                </a:solidFill>
                <a:latin typeface="Tajawal"/>
              </a:rPr>
              <a:t>لل</a:t>
            </a:r>
            <a:r>
              <a:rPr lang="ar-EG" sz="1350" b="0" i="0" u="none" dirty="0" smtClean="0">
                <a:solidFill>
                  <a:srgbClr val="334155"/>
                </a:solidFill>
                <a:latin typeface="Tajawal"/>
              </a:rPr>
              <a:t>م</a:t>
            </a:r>
            <a:r>
              <a:rPr sz="1350" b="0" i="0" u="none" dirty="0" err="1" smtClean="0">
                <a:solidFill>
                  <a:srgbClr val="334155"/>
                </a:solidFill>
                <a:latin typeface="Tajawal"/>
              </a:rPr>
              <a:t>دفوعات</a:t>
            </a:r>
            <a:r>
              <a:rPr lang="ar-EG" sz="1350" dirty="0" smtClean="0">
                <a:solidFill>
                  <a:srgbClr val="334155"/>
                </a:solidFill>
                <a:latin typeface="Tajawal"/>
              </a:rPr>
              <a:t>، وكشف حساب كامل لكل طبيب.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4699" y="2062718"/>
            <a:ext cx="304800" cy="34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193" y="476250"/>
            <a:ext cx="11451431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700" b="0" i="0" u="none">
                <a:solidFill>
                  <a:srgbClr val="0F172A"/>
                </a:solidFill>
                <a:latin typeface="Cairo ExtraBold"/>
              </a:rPr>
              <a:t>القائمة الجانبية: الوحدات التشغيلية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974" y="4116382"/>
            <a:ext cx="7907890" cy="24126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6"/>
          <a:srcRect l="1275" t="2653" b="1414"/>
          <a:stretch/>
        </p:blipFill>
        <p:spPr>
          <a:xfrm>
            <a:off x="1347304" y="247374"/>
            <a:ext cx="3419062" cy="341464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5706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972" y="405801"/>
            <a:ext cx="2590800" cy="57540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53926" y="552581"/>
            <a:ext cx="222027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 i="0" u="none" dirty="0" err="1">
                <a:solidFill>
                  <a:srgbClr val="0369A1"/>
                </a:solidFill>
                <a:latin typeface="Cairo"/>
              </a:rPr>
              <a:t>طلب</a:t>
            </a:r>
            <a:r>
              <a:rPr sz="1800" b="1" i="0" u="none" dirty="0">
                <a:solidFill>
                  <a:srgbClr val="0369A1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0369A1"/>
                </a:solidFill>
                <a:latin typeface="Cairo"/>
              </a:rPr>
              <a:t>جديد</a:t>
            </a:r>
            <a:endParaRPr sz="1800" b="1" i="0" u="none" dirty="0">
              <a:solidFill>
                <a:srgbClr val="0369A1"/>
              </a:solidFill>
              <a:latin typeface="Cairo"/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122" y="538382"/>
            <a:ext cx="390525" cy="34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193" y="476250"/>
            <a:ext cx="11451431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700" b="0" i="0" u="none" dirty="0" err="1">
                <a:solidFill>
                  <a:srgbClr val="0F172A"/>
                </a:solidFill>
                <a:latin typeface="Cairo ExtraBold"/>
              </a:rPr>
              <a:t>القائمة</a:t>
            </a:r>
            <a:r>
              <a:rPr sz="2700" b="0" i="0" u="none" dirty="0">
                <a:solidFill>
                  <a:srgbClr val="0F172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0F172A"/>
                </a:solidFill>
                <a:latin typeface="Cairo ExtraBold"/>
              </a:rPr>
              <a:t>الجانبية</a:t>
            </a:r>
            <a:r>
              <a:rPr sz="2700" b="0" i="0" u="none" dirty="0">
                <a:solidFill>
                  <a:srgbClr val="0F172A"/>
                </a:solidFill>
                <a:latin typeface="Cairo ExtraBold"/>
              </a:rPr>
              <a:t>: </a:t>
            </a:r>
            <a:r>
              <a:rPr sz="2700" b="0" i="0" u="none" dirty="0" err="1">
                <a:solidFill>
                  <a:srgbClr val="0F172A"/>
                </a:solidFill>
                <a:latin typeface="Cairo ExtraBold"/>
              </a:rPr>
              <a:t>الوحدات</a:t>
            </a:r>
            <a:r>
              <a:rPr sz="2700" b="0" i="0" u="none" dirty="0">
                <a:solidFill>
                  <a:srgbClr val="0F172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0F172A"/>
                </a:solidFill>
                <a:latin typeface="Cairo ExtraBold"/>
              </a:rPr>
              <a:t>التشغيلية</a:t>
            </a:r>
            <a:endParaRPr sz="2700" b="0" i="0" u="none" dirty="0">
              <a:solidFill>
                <a:srgbClr val="0F172A"/>
              </a:solidFill>
              <a:latin typeface="Cairo ExtraBold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105" y="1044450"/>
            <a:ext cx="9860207" cy="5726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8291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0" y="2447032"/>
            <a:ext cx="2590800" cy="28402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447032"/>
            <a:ext cx="2590800" cy="28402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900" y="2447032"/>
            <a:ext cx="2590800" cy="28402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47032"/>
            <a:ext cx="2590800" cy="28402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62097" y="3313807"/>
            <a:ext cx="222027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1800" b="1" i="0" u="none" dirty="0" err="1" smtClean="0">
                <a:solidFill>
                  <a:srgbClr val="0369A1"/>
                </a:solidFill>
                <a:latin typeface="Cairo"/>
              </a:rPr>
              <a:t>بيانات</a:t>
            </a:r>
            <a:r>
              <a:rPr sz="1800" b="1" i="0" u="none" dirty="0" smtClean="0">
                <a:solidFill>
                  <a:srgbClr val="0369A1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0369A1"/>
                </a:solidFill>
                <a:latin typeface="Cairo"/>
              </a:rPr>
              <a:t>الطلب</a:t>
            </a:r>
            <a:endParaRPr sz="1800" b="1" i="0" u="none" dirty="0">
              <a:solidFill>
                <a:srgbClr val="0369A1"/>
              </a:solidFill>
              <a:latin typeface="Cair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267825" y="3837682"/>
            <a:ext cx="2114550" cy="815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اختيار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اسم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الطبيب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قائمة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منسدلة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وتحديد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تاريخ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الطلب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الحالة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التشغيلية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والتشخيص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الطبي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2697" y="3313807"/>
            <a:ext cx="222027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1800" b="1" i="0" u="none" dirty="0" err="1" smtClean="0">
                <a:solidFill>
                  <a:srgbClr val="0369A1"/>
                </a:solidFill>
                <a:latin typeface="Cairo"/>
              </a:rPr>
              <a:t>تحديد</a:t>
            </a:r>
            <a:r>
              <a:rPr sz="1800" b="1" i="0" u="none" dirty="0" smtClean="0">
                <a:solidFill>
                  <a:srgbClr val="0369A1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0369A1"/>
                </a:solidFill>
                <a:latin typeface="Cairo"/>
              </a:rPr>
              <a:t>الأسنان</a:t>
            </a:r>
            <a:endParaRPr sz="1800" b="1" i="0" u="none" dirty="0">
              <a:solidFill>
                <a:srgbClr val="0369A1"/>
              </a:solidFill>
              <a:latin typeface="Cair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48425" y="3837682"/>
            <a:ext cx="21145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مصفوفة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تفاعلية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لاختيار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الأسنان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العلوية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والسفلية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lang="ar-EG" sz="1350" b="0" i="0" u="none" dirty="0" smtClean="0">
                <a:solidFill>
                  <a:srgbClr val="334155"/>
                </a:solidFill>
                <a:latin typeface="Tajawal"/>
              </a:rPr>
              <a:t>(</a:t>
            </a:r>
            <a:r>
              <a:rPr sz="1350" b="0" i="0" u="none" dirty="0" err="1" smtClean="0">
                <a:solidFill>
                  <a:srgbClr val="334155"/>
                </a:solidFill>
                <a:latin typeface="Tajawal"/>
              </a:rPr>
              <a:t>صفوف</a:t>
            </a:r>
            <a:r>
              <a:rPr sz="1350" b="0" i="0" u="none" dirty="0" smtClean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1 و </a:t>
            </a:r>
            <a:r>
              <a:rPr sz="1350" b="0" i="0" u="none" dirty="0" smtClean="0">
                <a:solidFill>
                  <a:srgbClr val="334155"/>
                </a:solidFill>
                <a:latin typeface="Tajawal"/>
              </a:rPr>
              <a:t>2</a:t>
            </a:r>
            <a:r>
              <a:rPr lang="ar-EG" sz="1350" b="0" i="0" u="none" dirty="0" smtClean="0">
                <a:solidFill>
                  <a:srgbClr val="334155"/>
                </a:solidFill>
                <a:latin typeface="Tajawal"/>
              </a:rPr>
              <a:t>)</a:t>
            </a:r>
            <a:r>
              <a:rPr sz="1350" b="0" i="0" u="none" dirty="0" smtClean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بدقة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عالية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3297" y="3313807"/>
            <a:ext cx="222027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1800" b="1" i="0" u="none" dirty="0" err="1" smtClean="0">
                <a:solidFill>
                  <a:srgbClr val="0369A1"/>
                </a:solidFill>
                <a:latin typeface="Cairo"/>
              </a:rPr>
              <a:t>الأصناف</a:t>
            </a:r>
            <a:r>
              <a:rPr sz="1800" b="1" i="0" u="none" dirty="0" smtClean="0">
                <a:solidFill>
                  <a:srgbClr val="0369A1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0369A1"/>
                </a:solidFill>
                <a:latin typeface="Cairo"/>
              </a:rPr>
              <a:t>والخدمات</a:t>
            </a:r>
            <a:endParaRPr sz="1800" b="1" i="0" u="none" dirty="0">
              <a:solidFill>
                <a:srgbClr val="0369A1"/>
              </a:solidFill>
              <a:latin typeface="Cair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29025" y="3837682"/>
            <a:ext cx="21145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Tajawal"/>
              </a:rPr>
              <a:t>جدول شامل لإضافة الصنف، تحديد السعر والكمية والخصم وتحسيب الإجمالي تلقائياً.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897" y="3313807"/>
            <a:ext cx="222027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 i="0" u="none" dirty="0" err="1" smtClean="0">
                <a:solidFill>
                  <a:srgbClr val="0369A1"/>
                </a:solidFill>
                <a:latin typeface="Cairo"/>
              </a:rPr>
              <a:t>ملخص</a:t>
            </a:r>
            <a:r>
              <a:rPr sz="1800" b="1" i="0" u="none" dirty="0" smtClean="0">
                <a:solidFill>
                  <a:srgbClr val="0369A1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0369A1"/>
                </a:solidFill>
                <a:latin typeface="Cairo"/>
              </a:rPr>
              <a:t>الحساب</a:t>
            </a:r>
            <a:endParaRPr sz="1800" b="1" i="0" u="none" dirty="0">
              <a:solidFill>
                <a:srgbClr val="0369A1"/>
              </a:solidFill>
              <a:latin typeface="Cair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9625" y="3837682"/>
            <a:ext cx="21145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حساب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الإجمالي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الكلي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صافي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الخصم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المبلغ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المدفوع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والباقي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المتبقي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على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الطبيب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3750" y="2713732"/>
            <a:ext cx="4286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2450" y="2713732"/>
            <a:ext cx="3905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0675" y="2713732"/>
            <a:ext cx="342900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7000" y="2713732"/>
            <a:ext cx="257175" cy="34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193" y="476250"/>
            <a:ext cx="11451431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700" b="0" i="0" u="none">
                <a:solidFill>
                  <a:srgbClr val="0F172A"/>
                </a:solidFill>
                <a:latin typeface="Cairo ExtraBold"/>
              </a:rPr>
              <a:t>آلية إضافة طلب عمل جديد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678" y="1505050"/>
            <a:ext cx="3623316" cy="229297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43520" y="1837336"/>
            <a:ext cx="222027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ar-EG" b="1" dirty="0" smtClean="0">
                <a:solidFill>
                  <a:srgbClr val="0369A1"/>
                </a:solidFill>
                <a:latin typeface="Cairo"/>
              </a:rPr>
              <a:t>متابعة الفواتير</a:t>
            </a:r>
            <a:endParaRPr sz="1800" b="1" i="0" u="none" dirty="0">
              <a:solidFill>
                <a:srgbClr val="0369A1"/>
              </a:solidFill>
              <a:latin typeface="Cair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39270" y="2414961"/>
            <a:ext cx="3402859" cy="1128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350" b="0" i="0" u="none" dirty="0" smtClean="0">
                <a:solidFill>
                  <a:srgbClr val="334155"/>
                </a:solidFill>
                <a:latin typeface="Tajawal"/>
              </a:rPr>
              <a:t>متابعة كل الفواتير، امكانية البحث عن الفواتير، والفواتير الخاصة بكل طبيب، حسب حالات الفواتير(مدفوعة جزئياً، مدفوعة ، غير مدفوعه) والبحث بتاريخ الفاتورة وامكانية عرض الفاتورة وطباعتها.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193" y="476250"/>
            <a:ext cx="11451431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700" b="0" i="0" u="none">
                <a:solidFill>
                  <a:srgbClr val="0F172A"/>
                </a:solidFill>
                <a:latin typeface="Cairo ExtraBold"/>
              </a:rPr>
              <a:t>القائمة الجانبية: الوحدات التشغيلية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282" y="4036879"/>
            <a:ext cx="9467560" cy="23742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5093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678" y="1505050"/>
            <a:ext cx="3623316" cy="229297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41921" y="1837336"/>
            <a:ext cx="222027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ar-EG" b="1" dirty="0" smtClean="0">
                <a:solidFill>
                  <a:srgbClr val="0369A1"/>
                </a:solidFill>
                <a:latin typeface="Cairo"/>
              </a:rPr>
              <a:t>متابعة طلبات العملاء </a:t>
            </a:r>
            <a:endParaRPr sz="1800" b="1" i="0" u="none" dirty="0">
              <a:solidFill>
                <a:srgbClr val="0369A1"/>
              </a:solidFill>
              <a:latin typeface="Cair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39270" y="2414961"/>
            <a:ext cx="3402859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350" b="0" i="0" u="none" dirty="0" smtClean="0">
                <a:solidFill>
                  <a:srgbClr val="334155"/>
                </a:solidFill>
                <a:latin typeface="Tajawal"/>
              </a:rPr>
              <a:t>متابعة كافة الطلبات بالمعمل حسب حالتها (الكل ، الحالات في المعمل، وما تم تسليمه، وفي الانتظار، والملغي) مع امكانية تحديث حالة التسليم)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193" y="476250"/>
            <a:ext cx="11451431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700" b="0" i="0" u="none">
                <a:solidFill>
                  <a:srgbClr val="0F172A"/>
                </a:solidFill>
                <a:latin typeface="Cairo ExtraBold"/>
              </a:rPr>
              <a:t>القائمة الجانبية: الوحدات التشغيلية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25" y="4037497"/>
            <a:ext cx="11612263" cy="251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080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678" y="1505050"/>
            <a:ext cx="3623316" cy="229297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41921" y="1837336"/>
            <a:ext cx="222027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ar-EG" b="1" dirty="0" smtClean="0">
                <a:solidFill>
                  <a:srgbClr val="0369A1"/>
                </a:solidFill>
                <a:latin typeface="Cairo"/>
              </a:rPr>
              <a:t>متابعة الخامات بالمخزن </a:t>
            </a:r>
            <a:endParaRPr sz="1800" b="1" i="0" u="none" dirty="0">
              <a:solidFill>
                <a:srgbClr val="0369A1"/>
              </a:solidFill>
              <a:latin typeface="Cair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39270" y="2414961"/>
            <a:ext cx="3402859" cy="815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350" b="0" i="0" u="none" dirty="0" smtClean="0">
                <a:solidFill>
                  <a:srgbClr val="334155"/>
                </a:solidFill>
                <a:latin typeface="Tajawal"/>
              </a:rPr>
              <a:t>متابعة الخامات المستخدمه داخل المخزن مع إمكانية اضافة الأصناف، والسحب من المخزن وتعديل الكميات وعمل الجرد السريع للمخزون من الخامات و امكانية البحث بإسم الصنف.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193" y="476250"/>
            <a:ext cx="11451431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700" b="0" i="0" u="none">
                <a:solidFill>
                  <a:srgbClr val="0F172A"/>
                </a:solidFill>
                <a:latin typeface="Cairo ExtraBold"/>
              </a:rPr>
              <a:t>القائمة الجانبية: الوحدات التشغيلية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95" y="4049021"/>
            <a:ext cx="11399410" cy="24417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2739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821" y="1563608"/>
            <a:ext cx="3362059" cy="229297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44808" y="1895894"/>
            <a:ext cx="222027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ar-EG" b="1" dirty="0" smtClean="0">
                <a:solidFill>
                  <a:srgbClr val="0369A1"/>
                </a:solidFill>
                <a:latin typeface="Cairo"/>
              </a:rPr>
              <a:t>متابعة مدفوعات العملاء</a:t>
            </a:r>
            <a:endParaRPr sz="1800" b="1" i="0" u="none" dirty="0">
              <a:solidFill>
                <a:srgbClr val="0369A1"/>
              </a:solidFill>
              <a:latin typeface="Cair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03468" y="2473519"/>
            <a:ext cx="3041548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350" b="0" i="0" u="none" dirty="0" smtClean="0">
                <a:solidFill>
                  <a:srgbClr val="334155"/>
                </a:solidFill>
                <a:latin typeface="Tajawal"/>
              </a:rPr>
              <a:t>متابعة مدفوعات العملاء، وإضافة دفعات جديدة بما تؤثر على كشف حساب الطبيب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193" y="476250"/>
            <a:ext cx="11451431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700" b="0" i="0" u="none">
                <a:solidFill>
                  <a:srgbClr val="0F172A"/>
                </a:solidFill>
                <a:latin typeface="Cairo ExtraBold"/>
              </a:rPr>
              <a:t>القائمة الجانبية: الوحدات التشغيلية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82" y="1057322"/>
            <a:ext cx="8038783" cy="545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923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821" y="1563608"/>
            <a:ext cx="3362059" cy="229297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44808" y="1895894"/>
            <a:ext cx="222027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ar-EG" b="1" dirty="0" smtClean="0">
                <a:solidFill>
                  <a:srgbClr val="0369A1"/>
                </a:solidFill>
                <a:latin typeface="Cairo"/>
              </a:rPr>
              <a:t>متابعة المصروفات </a:t>
            </a:r>
            <a:endParaRPr sz="1800" b="1" i="0" u="none" dirty="0">
              <a:solidFill>
                <a:srgbClr val="0369A1"/>
              </a:solidFill>
              <a:latin typeface="Cair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03468" y="2473519"/>
            <a:ext cx="3041548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350" b="0" i="0" u="none" dirty="0" smtClean="0">
                <a:solidFill>
                  <a:srgbClr val="334155"/>
                </a:solidFill>
                <a:latin typeface="Tajawal"/>
              </a:rPr>
              <a:t>متابعة المصروفات حسب نوعها (ايجار، رواتب، خامات ......).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193" y="476250"/>
            <a:ext cx="11451431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700" b="0" i="0" u="none">
                <a:solidFill>
                  <a:srgbClr val="0F172A"/>
                </a:solidFill>
                <a:latin typeface="Cairo ExtraBold"/>
              </a:rPr>
              <a:t>القائمة الجانبية: الوحدات التشغيلية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46" y="1554481"/>
            <a:ext cx="8255765" cy="412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066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157" y="1247919"/>
            <a:ext cx="5541267" cy="174181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193" y="476250"/>
            <a:ext cx="11451431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700" b="0" i="0" u="none">
                <a:solidFill>
                  <a:srgbClr val="0F172A"/>
                </a:solidFill>
                <a:latin typeface="Cairo ExtraBold"/>
              </a:rPr>
              <a:t>القائمة الجانبية: الوحدات التشغيلية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792" y="3114917"/>
            <a:ext cx="11375628" cy="36178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8958941" y="1532335"/>
            <a:ext cx="1908995" cy="276999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r" rtl="1"/>
            <a:r>
              <a:rPr sz="1800" b="1" i="0" u="none" dirty="0" err="1">
                <a:solidFill>
                  <a:srgbClr val="0369A1"/>
                </a:solidFill>
                <a:latin typeface="Cairo"/>
              </a:rPr>
              <a:t>فلترة</a:t>
            </a:r>
            <a:r>
              <a:rPr sz="1800" b="1" i="0" u="none" dirty="0">
                <a:solidFill>
                  <a:srgbClr val="0369A1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0369A1"/>
                </a:solidFill>
                <a:latin typeface="Cairo"/>
              </a:rPr>
              <a:t>التقارير</a:t>
            </a:r>
            <a:r>
              <a:rPr sz="1800" b="1" i="0" u="none" dirty="0">
                <a:solidFill>
                  <a:srgbClr val="0369A1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0369A1"/>
                </a:solidFill>
                <a:latin typeface="Cairo"/>
              </a:rPr>
              <a:t>المتقدمة</a:t>
            </a:r>
            <a:endParaRPr sz="1800" b="1" i="0" u="none" dirty="0">
              <a:solidFill>
                <a:srgbClr val="0369A1"/>
              </a:solidFill>
              <a:latin typeface="Cairo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2067" y="1569535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75815" y="1945851"/>
            <a:ext cx="5166252" cy="533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تتميز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شاشات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التقرير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بشريط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فلترة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علوي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مرن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يمكنك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تحديد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فترة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زمنية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بين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تاريخين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محددين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lang="ar-EG" sz="1350" b="0" i="0" u="none" dirty="0" smtClean="0">
                <a:solidFill>
                  <a:srgbClr val="334155"/>
                </a:solidFill>
                <a:latin typeface="Tajawal"/>
              </a:rPr>
              <a:t>(</a:t>
            </a:r>
            <a:r>
              <a:rPr sz="1350" b="0" i="0" u="none" dirty="0" err="1" smtClean="0">
                <a:solidFill>
                  <a:srgbClr val="334155"/>
                </a:solidFill>
                <a:latin typeface="Tajawal"/>
              </a:rPr>
              <a:t>اليوم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الشهر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فترة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 smtClean="0">
                <a:solidFill>
                  <a:srgbClr val="334155"/>
                </a:solidFill>
                <a:latin typeface="Tajawal"/>
              </a:rPr>
              <a:t>مخصصة</a:t>
            </a:r>
            <a:r>
              <a:rPr lang="ar-EG" sz="1350" dirty="0">
                <a:solidFill>
                  <a:srgbClr val="334155"/>
                </a:solidFill>
                <a:latin typeface="Tajawal"/>
              </a:rPr>
              <a:t>)، حصر كامل لجميع الإيرادات والمصروفات</a:t>
            </a:r>
            <a:r>
              <a:rPr lang="ar-EG" sz="1350" dirty="0" smtClean="0">
                <a:solidFill>
                  <a:srgbClr val="334155"/>
                </a:solidFill>
                <a:latin typeface="Tajawal"/>
              </a:rPr>
              <a:t>.</a:t>
            </a:r>
            <a:endParaRPr lang="ar-EG" sz="1350" dirty="0">
              <a:solidFill>
                <a:srgbClr val="334155"/>
              </a:solidFill>
              <a:latin typeface="Tajawal"/>
            </a:endParaRPr>
          </a:p>
        </p:txBody>
      </p:sp>
    </p:spTree>
    <p:extLst>
      <p:ext uri="{BB962C8B-B14F-4D97-AF65-F5344CB8AC3E}">
        <p14:creationId xmlns:p14="http://schemas.microsoft.com/office/powerpoint/2010/main" val="425007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366" y="1381127"/>
            <a:ext cx="3334406" cy="16233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70636" y="1766579"/>
            <a:ext cx="222027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ar-EG" b="1" dirty="0" smtClean="0">
                <a:solidFill>
                  <a:srgbClr val="0369A1"/>
                </a:solidFill>
                <a:latin typeface="Cairo"/>
              </a:rPr>
              <a:t>إدارة المستخدمين </a:t>
            </a:r>
            <a:endParaRPr sz="1800" b="1" i="0" u="none" dirty="0">
              <a:solidFill>
                <a:srgbClr val="0369A1"/>
              </a:solidFill>
              <a:latin typeface="Cair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21612" y="2154038"/>
            <a:ext cx="3041548" cy="250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350" dirty="0" smtClean="0">
                <a:solidFill>
                  <a:srgbClr val="334155"/>
                </a:solidFill>
                <a:latin typeface="Tajawal"/>
              </a:rPr>
              <a:t>إدارة المستخدمين وصلاحيتهم (مدير ، موظف )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193" y="476250"/>
            <a:ext cx="11451431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700" b="0" i="0" u="none">
                <a:solidFill>
                  <a:srgbClr val="0F172A"/>
                </a:solidFill>
                <a:latin typeface="Cairo ExtraBold"/>
              </a:rPr>
              <a:t>القائمة الجانبية: الوحدات التشغيلية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69" y="1683936"/>
            <a:ext cx="8269117" cy="424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151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366" y="1381127"/>
            <a:ext cx="3334406" cy="20369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74011" y="2154038"/>
            <a:ext cx="3041548" cy="109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350" dirty="0" smtClean="0">
                <a:solidFill>
                  <a:srgbClr val="334155"/>
                </a:solidFill>
                <a:latin typeface="Tajawal"/>
              </a:rPr>
              <a:t>متابعة </a:t>
            </a:r>
            <a:r>
              <a:rPr lang="ar-EG" sz="1350" dirty="0">
                <a:solidFill>
                  <a:srgbClr val="334155"/>
                </a:solidFill>
                <a:latin typeface="Tajawal"/>
              </a:rPr>
              <a:t>كافة الحركات التعديلية والعمليات التي يجريها فريق العمل </a:t>
            </a:r>
            <a:r>
              <a:rPr lang="ar-EG" sz="1350" dirty="0" smtClean="0">
                <a:solidFill>
                  <a:srgbClr val="334155"/>
                </a:solidFill>
                <a:latin typeface="Tajawal"/>
              </a:rPr>
              <a:t>والموظفون و </a:t>
            </a:r>
            <a:r>
              <a:rPr lang="ar-EG" sz="1350" dirty="0">
                <a:solidFill>
                  <a:srgbClr val="334155"/>
                </a:solidFill>
                <a:latin typeface="Tajawal"/>
              </a:rPr>
              <a:t>استعراض الأخطاء والعمليات المنجزة والتعديلات لضمان أقصى درجات الشفافية </a:t>
            </a:r>
            <a:r>
              <a:rPr lang="ar-EG" sz="1350" dirty="0" smtClean="0">
                <a:solidFill>
                  <a:srgbClr val="334155"/>
                </a:solidFill>
                <a:latin typeface="Tajawal"/>
              </a:rPr>
              <a:t>مع امكانية البحث حسب الاجراء و حسب المدة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193" y="476250"/>
            <a:ext cx="11451431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700" b="0" i="0" u="none">
                <a:solidFill>
                  <a:srgbClr val="0F172A"/>
                </a:solidFill>
                <a:latin typeface="Cairo ExtraBold"/>
              </a:rPr>
              <a:t>القائمة الجانبية: الوحدات التشغيلية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087" y="605080"/>
            <a:ext cx="7337690" cy="58209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8434524" y="1665529"/>
            <a:ext cx="3041548" cy="276999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r" rtl="1"/>
            <a:r>
              <a:rPr sz="1800" b="1" i="0" u="none" dirty="0" err="1">
                <a:solidFill>
                  <a:srgbClr val="0369A1"/>
                </a:solidFill>
                <a:latin typeface="Cairo"/>
              </a:rPr>
              <a:t>سجل</a:t>
            </a:r>
            <a:r>
              <a:rPr sz="1800" b="1" i="0" u="none" dirty="0">
                <a:solidFill>
                  <a:srgbClr val="0369A1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0369A1"/>
                </a:solidFill>
                <a:latin typeface="Cairo"/>
              </a:rPr>
              <a:t>التتبع</a:t>
            </a:r>
            <a:r>
              <a:rPr sz="1800" b="1" i="0" u="none" dirty="0">
                <a:solidFill>
                  <a:srgbClr val="0369A1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0369A1"/>
                </a:solidFill>
                <a:latin typeface="Cairo"/>
              </a:rPr>
              <a:t>والتدقيق</a:t>
            </a:r>
            <a:r>
              <a:rPr sz="1800" b="1" i="0" u="none" dirty="0">
                <a:solidFill>
                  <a:srgbClr val="0369A1"/>
                </a:solidFill>
                <a:latin typeface="Cairo"/>
              </a:rPr>
              <a:t> (Audit Log)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9362" y="1713928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215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366" y="1381127"/>
            <a:ext cx="3334406" cy="36970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70636" y="1766579"/>
            <a:ext cx="222027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ar-EG" b="1" dirty="0" smtClean="0">
                <a:solidFill>
                  <a:srgbClr val="0369A1"/>
                </a:solidFill>
                <a:latin typeface="Cairo"/>
              </a:rPr>
              <a:t>الإعدادات</a:t>
            </a:r>
            <a:endParaRPr sz="1800" b="1" i="0" u="none" dirty="0">
              <a:solidFill>
                <a:srgbClr val="0369A1"/>
              </a:solidFill>
              <a:latin typeface="Cair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21612" y="2154038"/>
            <a:ext cx="3041548" cy="815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350" dirty="0" smtClean="0">
                <a:solidFill>
                  <a:srgbClr val="334155"/>
                </a:solidFill>
                <a:latin typeface="Tajawal"/>
              </a:rPr>
              <a:t>إعدادات بيانات المعمل، واضافة الأصناف المستخدمه عند إضافة طلب جديد بحيث عند اختيار الصنف يتم ظهور السعر تلقائياً.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193" y="476250"/>
            <a:ext cx="11451431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700" b="0" i="0" u="none">
                <a:solidFill>
                  <a:srgbClr val="0F172A"/>
                </a:solidFill>
                <a:latin typeface="Cairo ExtraBold"/>
              </a:rPr>
              <a:t>القائمة الجانبية: الوحدات التشغيلية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63" y="409912"/>
            <a:ext cx="6611156" cy="49118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1528" y="5408863"/>
            <a:ext cx="2173308" cy="13477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8670636" y="3389908"/>
            <a:ext cx="3041548" cy="141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ar-EG" sz="1350" dirty="0" smtClean="0">
                <a:solidFill>
                  <a:srgbClr val="334155"/>
                </a:solidFill>
                <a:latin typeface="Tajawal"/>
              </a:rPr>
              <a:t>إمكانية إنشاء نسخة إحتياطية، وإمكانية إستعادتها.</a:t>
            </a:r>
            <a:br>
              <a:rPr lang="ar-EG" sz="1350" dirty="0" smtClean="0">
                <a:solidFill>
                  <a:srgbClr val="334155"/>
                </a:solidFill>
                <a:latin typeface="Tajawal"/>
              </a:rPr>
            </a:br>
            <a:r>
              <a:rPr lang="ar-EG" sz="1350" b="1" dirty="0" smtClean="0">
                <a:solidFill>
                  <a:srgbClr val="FF0000"/>
                </a:solidFill>
                <a:latin typeface="Tajawal"/>
              </a:rPr>
              <a:t>وتصفير جميع التعاملات </a:t>
            </a:r>
            <a:r>
              <a:rPr lang="ar-EG" sz="1350" dirty="0" smtClean="0">
                <a:solidFill>
                  <a:srgbClr val="334155"/>
                </a:solidFill>
                <a:latin typeface="Tajawal"/>
              </a:rPr>
              <a:t>(يتم حذف كافة التعاملات داخل البرنامج من فواتير وغيرها ولا يبقى غير بيانات المخزن والاصناف والاطباء) ويتم حذف باقي التعاملات في البرنامج</a:t>
            </a:r>
            <a:endParaRPr sz="1350" b="0" i="0" u="none" dirty="0">
              <a:solidFill>
                <a:srgbClr val="334155"/>
              </a:solidFill>
              <a:latin typeface="Tajawal"/>
            </a:endParaRPr>
          </a:p>
        </p:txBody>
      </p:sp>
    </p:spTree>
    <p:extLst>
      <p:ext uri="{BB962C8B-B14F-4D97-AF65-F5344CB8AC3E}">
        <p14:creationId xmlns:p14="http://schemas.microsoft.com/office/powerpoint/2010/main" val="183428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86500" y="2427089"/>
            <a:ext cx="5334000" cy="250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تضم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الأسفل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الجانبي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للقائمة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أدوات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أمان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واستخدام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مهمة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لحماية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بيانات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المعمل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واستمرارية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العمل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089969"/>
            <a:ext cx="4953000" cy="54858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sz="1350" b="1" i="0" u="none" dirty="0" err="1">
                <a:solidFill>
                  <a:srgbClr val="334155"/>
                </a:solidFill>
                <a:latin typeface="Tajawal"/>
              </a:rPr>
              <a:t>قفل</a:t>
            </a:r>
            <a:r>
              <a:rPr sz="135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Tajawal"/>
              </a:rPr>
              <a:t>الشاشة</a:t>
            </a:r>
            <a:r>
              <a:rPr sz="135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Tajawal"/>
              </a:rPr>
              <a:t>المؤقت</a:t>
            </a:r>
            <a:r>
              <a:rPr sz="1350" b="1" i="0" u="none" dirty="0">
                <a:solidFill>
                  <a:srgbClr val="334155"/>
                </a:solidFill>
                <a:latin typeface="Tajawal"/>
              </a:rPr>
              <a:t>: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يُمكّن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الموظف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قفل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الشاشة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عند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مغادرة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المكتب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دون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الحاجة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لتسجيل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الخروج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الكامل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829050"/>
            <a:ext cx="4953000" cy="54858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r" rtl="1">
              <a:lnSpc>
                <a:spcPts val="2160"/>
              </a:lnSpc>
            </a:pPr>
            <a:r>
              <a:rPr sz="1350" b="1" i="0" u="none" dirty="0" err="1">
                <a:solidFill>
                  <a:srgbClr val="334155"/>
                </a:solidFill>
                <a:latin typeface="Tajawal"/>
              </a:rPr>
              <a:t>النسخ</a:t>
            </a:r>
            <a:r>
              <a:rPr sz="135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Tajawal"/>
              </a:rPr>
              <a:t>الاحتياطي</a:t>
            </a:r>
            <a:r>
              <a:rPr sz="135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Tajawal"/>
              </a:rPr>
              <a:t>الفوري</a:t>
            </a:r>
            <a:r>
              <a:rPr sz="1350" b="1" i="0" u="none" dirty="0">
                <a:solidFill>
                  <a:srgbClr val="334155"/>
                </a:solidFill>
                <a:latin typeface="Tajawal"/>
              </a:rPr>
              <a:t>: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إمكانية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إنشاء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نسخة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احتياطية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لقاعدة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البيانات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أوفلاين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أو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سحابياً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لمنع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فقدان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البيانات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4568130"/>
            <a:ext cx="4953000" cy="250966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 rtl="1">
              <a:lnSpc>
                <a:spcPts val="2160"/>
              </a:lnSpc>
            </a:pPr>
            <a:r>
              <a:rPr sz="1350" b="1" i="0" u="none" dirty="0" err="1">
                <a:solidFill>
                  <a:srgbClr val="334155"/>
                </a:solidFill>
                <a:latin typeface="Tajawal"/>
              </a:rPr>
              <a:t>تسجيل</a:t>
            </a:r>
            <a:r>
              <a:rPr sz="135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Tajawal"/>
              </a:rPr>
              <a:t>الخروج</a:t>
            </a:r>
            <a:r>
              <a:rPr sz="135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Tajawal"/>
              </a:rPr>
              <a:t>الآمن</a:t>
            </a:r>
            <a:r>
              <a:rPr sz="1350" b="1" i="0" u="none" dirty="0">
                <a:solidFill>
                  <a:srgbClr val="334155"/>
                </a:solidFill>
                <a:latin typeface="Tajawal"/>
              </a:rPr>
              <a:t>: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إنهاء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الجلسة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الحالية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وحماية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النظام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من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الوصول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غير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Tajawal"/>
              </a:rPr>
              <a:t>المصرح</a:t>
            </a:r>
            <a:r>
              <a:rPr sz="135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9525" y="3123307"/>
            <a:ext cx="180975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9525" y="3862387"/>
            <a:ext cx="18097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0950" y="4601467"/>
            <a:ext cx="209550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193" y="476250"/>
            <a:ext cx="11451431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700" b="0" i="0" u="none">
                <a:solidFill>
                  <a:srgbClr val="0F172A"/>
                </a:solidFill>
                <a:latin typeface="Cairo ExtraBold"/>
              </a:rPr>
              <a:t>أدوات التحكم السريعة والأمان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1448" y="2469821"/>
            <a:ext cx="2367651" cy="174512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476250"/>
            <a:ext cx="116014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 dirty="0" err="1">
                <a:solidFill>
                  <a:srgbClr val="0F172A"/>
                </a:solidFill>
                <a:latin typeface="Cairo"/>
              </a:rPr>
              <a:t>هل</a:t>
            </a:r>
            <a:r>
              <a:rPr sz="48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4800" b="1" i="0" u="none" dirty="0" err="1">
                <a:solidFill>
                  <a:srgbClr val="0F172A"/>
                </a:solidFill>
                <a:latin typeface="Cairo"/>
              </a:rPr>
              <a:t>لديك</a:t>
            </a:r>
            <a:r>
              <a:rPr sz="48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4800" b="1" i="0" u="none" dirty="0" err="1">
                <a:solidFill>
                  <a:srgbClr val="0F172A"/>
                </a:solidFill>
                <a:latin typeface="Cairo"/>
              </a:rPr>
              <a:t>أي</a:t>
            </a:r>
            <a:r>
              <a:rPr sz="4800" b="1" i="0" u="none" dirty="0">
                <a:solidFill>
                  <a:srgbClr val="0F172A"/>
                </a:solidFill>
                <a:latin typeface="Cairo"/>
              </a:rPr>
              <a:t> </a:t>
            </a:r>
            <a:r>
              <a:rPr sz="4800" b="1" i="0" u="none" dirty="0" err="1">
                <a:solidFill>
                  <a:srgbClr val="0F172A"/>
                </a:solidFill>
                <a:latin typeface="Cairo"/>
              </a:rPr>
              <a:t>استفسارات</a:t>
            </a:r>
            <a:r>
              <a:rPr sz="4800" b="1" i="0" u="none" dirty="0">
                <a:solidFill>
                  <a:srgbClr val="0F172A"/>
                </a:solidFill>
                <a:latin typeface="Cairo"/>
              </a:rPr>
              <a:t>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71650"/>
            <a:ext cx="11049000" cy="331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 err="1">
                <a:solidFill>
                  <a:srgbClr val="475569"/>
                </a:solidFill>
                <a:latin typeface="Tajawal"/>
              </a:rPr>
              <a:t>نظام</a:t>
            </a:r>
            <a:r>
              <a:rPr sz="18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Tajawal"/>
              </a:rPr>
              <a:t>إدارة</a:t>
            </a:r>
            <a:r>
              <a:rPr sz="18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Tajawal"/>
              </a:rPr>
              <a:t>معامل</a:t>
            </a:r>
            <a:r>
              <a:rPr sz="18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Tajawal"/>
              </a:rPr>
              <a:t>الأسنان</a:t>
            </a:r>
            <a:r>
              <a:rPr sz="18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Tajawal"/>
              </a:rPr>
              <a:t>المتكامل</a:t>
            </a:r>
            <a:r>
              <a:rPr sz="18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lang="ar-EG" sz="1800" b="0" i="0" u="none" dirty="0" smtClean="0">
                <a:solidFill>
                  <a:srgbClr val="475569"/>
                </a:solidFill>
                <a:latin typeface="Tajawal"/>
              </a:rPr>
              <a:t>_</a:t>
            </a:r>
            <a:r>
              <a:rPr sz="1800" b="0" i="0" u="none" dirty="0" smtClean="0">
                <a:solidFill>
                  <a:srgbClr val="475569"/>
                </a:solidFill>
                <a:latin typeface="Tajawal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Tajawal"/>
              </a:rPr>
              <a:t>كفاءة</a:t>
            </a:r>
            <a:r>
              <a:rPr sz="1800" b="0" i="0" u="none" dirty="0">
                <a:solidFill>
                  <a:srgbClr val="475569"/>
                </a:solidFill>
                <a:latin typeface="Tajawal"/>
              </a:rPr>
              <a:t>، </a:t>
            </a:r>
            <a:r>
              <a:rPr sz="1800" b="0" i="0" u="none" dirty="0" err="1">
                <a:solidFill>
                  <a:srgbClr val="475569"/>
                </a:solidFill>
                <a:latin typeface="Tajawal"/>
              </a:rPr>
              <a:t>أمان</a:t>
            </a:r>
            <a:r>
              <a:rPr sz="1800" b="0" i="0" u="none" dirty="0">
                <a:solidFill>
                  <a:srgbClr val="475569"/>
                </a:solidFill>
                <a:latin typeface="Tajawal"/>
              </a:rPr>
              <a:t>، </a:t>
            </a:r>
            <a:r>
              <a:rPr sz="1800" b="0" i="0" u="none" dirty="0" err="1">
                <a:solidFill>
                  <a:srgbClr val="475569"/>
                </a:solidFill>
                <a:latin typeface="Tajawal"/>
              </a:rPr>
              <a:t>وسهولة</a:t>
            </a:r>
            <a:r>
              <a:rPr sz="18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Tajawal"/>
              </a:rPr>
              <a:t>في</a:t>
            </a:r>
            <a:r>
              <a:rPr sz="1800" b="0" i="0" u="none" dirty="0">
                <a:solidFill>
                  <a:srgbClr val="475569"/>
                </a:solidFill>
                <a:latin typeface="Tajawal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Tajawal"/>
              </a:rPr>
              <a:t>الاستخدام</a:t>
            </a:r>
            <a:endParaRPr sz="1800" b="0" i="0" u="none" dirty="0">
              <a:solidFill>
                <a:srgbClr val="475569"/>
              </a:solidFill>
              <a:latin typeface="Tajaw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18115" y="3027522"/>
            <a:ext cx="4785631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ar-EG" sz="1800" b="1" i="0" u="none" dirty="0" smtClean="0">
                <a:solidFill>
                  <a:srgbClr val="0369A1"/>
                </a:solidFill>
                <a:latin typeface="Cairo"/>
              </a:rPr>
              <a:t>الدعم الفني 01009039628</a:t>
            </a:r>
            <a:endParaRPr sz="1800" b="1" i="0" u="none" dirty="0">
              <a:solidFill>
                <a:srgbClr val="0369A1"/>
              </a:solidFill>
              <a:latin typeface="Cairo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292" y="3076214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747</Words>
  <Application>Microsoft Office PowerPoint</Application>
  <PresentationFormat>Widescreen</PresentationFormat>
  <Paragraphs>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Cairo</vt:lpstr>
      <vt:lpstr>Cairo ExtraBold</vt:lpstr>
      <vt:lpstr>Calibri</vt:lpstr>
      <vt:lpstr>Tajawal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Ahmed Mansour</cp:lastModifiedBy>
  <cp:revision>30</cp:revision>
  <dcterms:created xsi:type="dcterms:W3CDTF">2013-01-27T09:14:16Z</dcterms:created>
  <dcterms:modified xsi:type="dcterms:W3CDTF">2026-09-07T12:52:03Z</dcterms:modified>
  <cp:category/>
</cp:coreProperties>
</file>